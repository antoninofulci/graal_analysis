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Default Extension="png" ContentType="image/pn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9_score_uv.png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1_roc_uv.png"/><Relationship Id="rId3" Type="http://schemas.openxmlformats.org/officeDocument/2006/relationships/image" Target="../media/graal_slide11_roc_vis.png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sigma_uv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ajaka_uv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6_sigma_vis.png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7_polarization.png"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0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800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6400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4882896"/>
            <a:ext cx="48126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01/19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La domanda fisica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wiki/scientific-foundations.md; Ajaka et al.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1170432"/>
            <a:ext cx="7772400" cy="5852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000" b="1" i="0">
                <a:solidFill>
                  <a:srgbClr val="0B5FA5"/>
                </a:solidFill>
                <a:latin typeface="Aptos"/>
              </a:rPr>
              <a:t>γ p  →  p η π⁰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04088" y="1847088"/>
            <a:ext cx="70408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00" b="0" i="0">
                <a:solidFill>
                  <a:srgbClr val="112642"/>
                </a:solidFill>
                <a:latin typeface="Aptos"/>
              </a:rPr>
              <a:t>η → γγ     π⁰ → γγ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432304"/>
            <a:ext cx="7680960" cy="44805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Stato finale osservato: quattro fotoni e candidato protone di rinculo.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3108960"/>
            <a:ext cx="75895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Σ in pπ⁰, pη ed ηπ⁰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04088" y="3593592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UV: 1,10–1,50 GeV · VIS: 0,9313–1,10 GeV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04088" y="4096512"/>
            <a:ext cx="77266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52657B"/>
                </a:solidFill>
                <a:latin typeface="Aptos"/>
              </a:rPr>
              <a:t>Ajaka et al. (2008): riferimento sperimentale per testare il framework.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96252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02/19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Dal Fortran ai file ROOT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wiki/01-pre-analysis.md; 01_pre_analysis/PreAnalysis.C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115568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000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664208" y="1133856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112642"/>
                </a:solidFill>
                <a:latin typeface="Aptos"/>
              </a:rPr>
              <a:t>Eredità Fortran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664208" y="1508760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112642"/>
                </a:solidFill>
                <a:latin typeface="Aptos"/>
              </a:rPr>
              <a:t>h70 conserva array e metadati grezzi; indice forward da 1 in Fortran</a:t>
            </a:r>
          </a:p>
          <a:p>
            <a:pPr algn="l"/>
            <a:r>
              <a:rPr lang="it-IT" sz="1700" b="0" i="0">
                <a:solidFill>
                  <a:srgbClr val="112642"/>
                </a:solidFill>
                <a:latin typeface="Aptos"/>
              </a:rPr>
              <a:t>convertito a 0 in C++.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295144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000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664208" y="2313432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112642"/>
                </a:solidFill>
                <a:latin typeface="Aptos"/>
              </a:rPr>
              <a:t>Pre-analisi C++/ROOT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664208" y="2679192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112642"/>
                </a:solidFill>
                <a:latin typeface="Aptos"/>
              </a:rPr>
              <a:t>PreAnalysis.C applica tagli PID dipendenti dal run e costruisce beam,</a:t>
            </a:r>
          </a:p>
          <a:p>
            <a:pPr algn="l"/>
            <a:r>
              <a:rPr lang="it-IT" sz="1700" b="0" i="0">
                <a:solidFill>
                  <a:srgbClr val="112642"/>
                </a:solidFill>
                <a:latin typeface="Aptos"/>
              </a:rPr>
              <a:t>fotoni, tracce cariche e polarizzazione.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3474720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000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664208" y="3493008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112642"/>
                </a:solidFill>
                <a:latin typeface="Aptos"/>
              </a:rPr>
              <a:t>Output normalizzato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664208" y="3858768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112642"/>
                </a:solidFill>
                <a:latin typeface="Aptos"/>
              </a:rPr>
              <a:t>Un ROOT h80 per periodo; h85 nasce dalla preselezione successiva.</a:t>
            </a:r>
          </a:p>
          <a:p>
            <a:pPr algn="l"/>
            <a:r>
              <a:rPr lang="it-IT" sz="1700" b="0" i="0">
                <a:solidFill>
                  <a:srgbClr val="112642"/>
                </a:solidFill>
                <a:latin typeface="Aptos"/>
              </a:rPr>
              <a:t>RunNumber e Xstrip collegano eventi e calibrazione.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144378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03/19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Preselezione dei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wiki/02-event-selection.md;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97280"/>
            <a:ext cx="1920240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400" b="1" i="0">
                <a:solidFill>
                  <a:srgbClr val="0B5FA5"/>
                </a:solidFill>
                <a:latin typeface="Aptos"/>
              </a:rPr>
              <a:t>h80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309360" y="1097280"/>
            <a:ext cx="1920240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4400" b="1" i="0">
                <a:solidFill>
                  <a:srgbClr val="0B5FA5"/>
                </a:solidFill>
                <a:latin typeface="Aptos"/>
              </a:rPr>
              <a:t>h85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13232" y="1847088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112642"/>
                </a:solidFill>
                <a:latin typeface="Aptos"/>
              </a:rPr>
              <a:t>Filtro topologico su ROOT RDataFrame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2331720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0" i="0">
                <a:solidFill>
                  <a:srgbClr val="0B5FA5"/>
                </a:solidFill>
                <a:latin typeface="Aptos"/>
              </a:rPr>
              <a:t>gammas.size() &gt; 1  &amp;&amp;  fcharged_theta.size() == 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044952"/>
            <a:ext cx="777240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La preselezione richiede ≥2 fotoni, non ancora la topologia finale a 4γ.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675888"/>
            <a:ext cx="7726680" cy="7040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50" b="0" i="0">
                <a:solidFill>
                  <a:srgbClr val="52657B"/>
                </a:solidFill>
                <a:latin typeface="Aptos"/>
              </a:rPr>
              <a:t>Tutti i rami restano nel tree h85; RunNumber, Polarization e Xstrip</a:t>
            </a:r>
          </a:p>
          <a:p>
            <a:pPr algn="l"/>
            <a:r>
              <a:rPr lang="it-IT" sz="1750" b="0" i="0">
                <a:solidFill>
                  <a:srgbClr val="52657B"/>
                </a:solidFill>
                <a:latin typeface="Aptos"/>
              </a:rPr>
              <a:t>seguono gli eventi fino a ricostruzione e calibrazione.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19250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04/19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365760"/>
            <a:ext cx="8046720" cy="5120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FFFFFF"/>
                </a:solidFill>
                <a:latin typeface="Aptos"/>
              </a:rPr>
              <a:t>Un framework di 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078992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0" i="0">
                <a:solidFill>
                  <a:srgbClr val="FFFFFF"/>
                </a:solidFill>
                <a:latin typeface="Aptos"/>
              </a:rPr>
              <a:t>01  Dati ROOT e preselezione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225296" y="1453896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DDEFFA"/>
                </a:solidFill>
                <a:latin typeface="Aptos"/>
              </a:rPr>
              <a:t>h70 → h80 → h85 · metadati per run, strip e polarizzazione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74520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0" i="0">
                <a:solidFill>
                  <a:srgbClr val="FFFFFF"/>
                </a:solidFill>
                <a:latin typeface="Aptos"/>
              </a:rPr>
              <a:t>02  MC e BDT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225296" y="2249424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DDEFFA"/>
                </a:solidFill>
                <a:latin typeface="Aptos"/>
              </a:rPr>
              <a:t>9 canali simulati · 26 feature · modelli UV/VIS indipendenti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70048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0" i="0">
                <a:solidFill>
                  <a:srgbClr val="FFFFFF"/>
                </a:solidFill>
                <a:latin typeface="Aptos"/>
              </a:rPr>
              <a:t>03  Ricostruzione e calibrazione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25296" y="3044952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DDEFFA"/>
                </a:solidFill>
                <a:latin typeface="Aptos"/>
              </a:rPr>
              <a:t>Pairing condiviso · flussi POL1/POL2/BREM calibrati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465576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0" i="0">
                <a:solidFill>
                  <a:srgbClr val="FFFFFF"/>
                </a:solidFill>
                <a:latin typeface="Aptos"/>
              </a:rPr>
              <a:t>04  Estrazione di Σ e controlli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225296" y="3840480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DDEFFA"/>
                </a:solidFill>
                <a:latin typeface="Aptos"/>
              </a:rPr>
              <a:t>Tre sottosistemi · confronto Ajaka · covarianze e QA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389120"/>
            <a:ext cx="777240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0" b="0" i="0">
                <a:solidFill>
                  <a:srgbClr val="DDEFFA"/>
                </a:solidFill>
                <a:latin typeface="Aptos"/>
              </a:rPr>
              <a:t>File validati e ipotesi condivise rendono il flusso riutilizzabile.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4882896"/>
            <a:ext cx="240631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05/19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Ricostruzione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wiki/scientific-foundations.md;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00" b="1" i="0">
                <a:solidFill>
                  <a:srgbClr val="0B5FA5"/>
                </a:solidFill>
                <a:latin typeface="Aptos"/>
              </a:rPr>
              <a:t>3 partizioni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63624"/>
            <a:ext cx="3703320" cy="10058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Quattro fotoni formano tre coppie disgiunte; η e π⁰ producono sei assegnazioni.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0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00" b="1" i="0">
                <a:solidFill>
                  <a:srgbClr val="0B5FA5"/>
                </a:solidFill>
                <a:latin typeface="Aptos"/>
              </a:rPr>
              <a:t>χ² minimo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572000" y="1563624"/>
            <a:ext cx="3675888" cy="10058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Si sceglie l'assegnazione più vicina alle masse nominali. Taglio di default: χ² &lt; 10.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816352"/>
            <a:ext cx="749808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Due campioni confrontabili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291840"/>
            <a:ext cx="7717536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Percorso standard: pairing χ². Percorso BDT: gate sullo score, poi stesso pairing e stessi tagli.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142232"/>
            <a:ext cx="7717536" cy="4023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52657B"/>
                </a:solidFill>
                <a:latin typeface="Aptos"/>
              </a:rPr>
              <a:t>Il modello e la ricostruzione condividono ipotesi ηπ⁰, masse e codice di pairing.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4882896"/>
            <a:ext cx="288757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06/19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Nuovo MC senza vecchio G3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wiki/03-monte-carlo-simulation.md; 03_mc_simulation/generators/smearing.h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97280"/>
            <a:ext cx="365760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Generazione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81328"/>
            <a:ext cx="7735824" cy="6583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50" b="0" i="0">
                <a:solidFill>
                  <a:srgbClr val="112642"/>
                </a:solidFill>
                <a:latin typeface="Aptos"/>
              </a:rPr>
              <a:t>ROOT TGenPhaseSpace, eventi non pesati, soglia calcolata dalle masse di produzione.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295144"/>
            <a:ext cx="374904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Finestra energetica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88336"/>
            <a:ext cx="772668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50" b="0" i="0">
                <a:solidFill>
                  <a:srgbClr val="112642"/>
                </a:solidFill>
                <a:latin typeface="Aptos"/>
              </a:rPr>
              <a:t>Set esteso fino a 1,75 GeV; MC VIS dedicato da max(soglia, 0,9313) a 1,10 GeV.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511296"/>
            <a:ext cx="429768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Risposta strumentale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895344"/>
            <a:ext cx="7735824" cy="6583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50" b="0" i="0">
                <a:solidFill>
                  <a:srgbClr val="112642"/>
                </a:solidFill>
                <a:latin typeface="Aptos"/>
              </a:rPr>
              <a:t>Smearing di fotoni, protone e tagger (FWHM 16 MeV). Accettanza semplificata; nessun vecchio G3.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336884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07/19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Nove canali simulati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wiki/physics-channels.md; wiki/03-monte-carlo-simulation.md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60704"/>
            <a:ext cx="228600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1" i="0">
                <a:solidFill>
                  <a:srgbClr val="0B5FA5"/>
                </a:solidFill>
                <a:latin typeface="Aptos"/>
              </a:rPr>
              <a:t>Segnale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17320"/>
            <a:ext cx="237744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000" b="1" i="0">
                <a:solidFill>
                  <a:srgbClr val="112642"/>
                </a:solidFill>
                <a:latin typeface="Aptos"/>
              </a:rPr>
              <a:t>ηπ⁰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2999232" y="1060704"/>
            <a:ext cx="512064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1" i="0">
                <a:solidFill>
                  <a:srgbClr val="0B5FA5"/>
                </a:solidFill>
                <a:latin typeface="Aptos"/>
              </a:rPr>
              <a:t>Fondi storici e nuovi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999232" y="1444752"/>
            <a:ext cx="5303520" cy="1490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π⁰π⁰    3π⁰    4π⁰</a:t>
            </a:r>
          </a:p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η → 3π⁰    ηπ⁰ con η → 3π⁰</a:t>
            </a:r>
          </a:p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η2π⁰    ωπ⁰    η′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72384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VIS: 6/9 canali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5021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ηπ⁰, π⁰π⁰, 3π⁰, 4π⁰, η → 3π⁰, ηπ⁰ con η → 3π⁰.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4078224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50" b="0" i="0">
                <a:solidFill>
                  <a:srgbClr val="52657B"/>
                </a:solidFill>
                <a:latin typeface="Aptos"/>
              </a:rPr>
              <a:t>η2π⁰, ωπ⁰ ed η′ hanno soglie sopra 1,10 GeV: esclusi dal VIS, mantenuti nel catalogo UV.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4882896"/>
            <a:ext cx="385010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08/19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BDT: idea e ingressi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artifacts/stage1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42416"/>
            <a:ext cx="2926080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900" b="1" i="0">
                <a:solidFill>
                  <a:srgbClr val="0B5FA5"/>
                </a:solidFill>
                <a:latin typeface="Aptos"/>
              </a:rPr>
              <a:t>BDT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19656"/>
            <a:ext cx="3685032" cy="7498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0" i="0">
                <a:solidFill>
                  <a:srgbClr val="112642"/>
                </a:solidFill>
                <a:latin typeface="Aptos"/>
              </a:rPr>
              <a:t>XGBoost separa segnale MC dai fondi prima del χ².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88336"/>
            <a:ext cx="3730752" cy="10332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50" b="0" i="0">
                <a:solidFill>
                  <a:srgbClr val="112642"/>
                </a:solidFill>
                <a:latin typeface="Aptos"/>
              </a:rPr>
              <a:t>26 feature condivise con il runtime: masse γγ, missing mass, energia, angoli e protone.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767328"/>
            <a:ext cx="3703320" cy="7315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50" b="0" i="0">
                <a:solidFill>
                  <a:srgbClr val="52657B"/>
                </a:solidFill>
                <a:latin typeface="Aptos"/>
              </a:rPr>
              <a:t>Prior di training 0,5; ordine dei fotoni rimescolato per evitare scorciatoie spurie.</a:t>
            </a:r>
          </a:p>
        </p:txBody>
      </p:sp>
      <p:pic>
        <p:nvPicPr>
          <p:cNvPr id="8" name="score_uv.png" descr="score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328166"/>
            <a:ext cx="3931920" cy="2948940"/>
          </a:xfrm>
          <a:prstGeom prst="rect">
            <a:avLst/>
          </a:prstGeom>
        </p:spPr>
      </p:pic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433136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Dal MC ai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wiki/05-stage1-gate.md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78992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900" b="1" i="0">
                <a:solidFill>
                  <a:srgbClr val="0B5FA5"/>
                </a:solidFill>
                <a:latin typeface="Aptos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371600" y="1088136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1" i="0">
                <a:solidFill>
                  <a:srgbClr val="112642"/>
                </a:solidFill>
                <a:latin typeface="Aptos"/>
              </a:rPr>
              <a:t>Spettro misurato e pesi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371600" y="1453896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50" b="0" i="0">
                <a:solidFill>
                  <a:srgbClr val="112642"/>
                </a:solidFill>
                <a:latin typeface="Aptos"/>
              </a:rPr>
              <a:t>Flux del tagger, sezione d'urto e accettanza plasmano il campione MC.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1956816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900" b="1" i="0">
                <a:solidFill>
                  <a:srgbClr val="0B5FA5"/>
                </a:solidFill>
                <a:latin typeface="Aptos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1965960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1" i="0">
                <a:solidFill>
                  <a:srgbClr val="112642"/>
                </a:solidFill>
                <a:latin typeface="Aptos"/>
              </a:rPr>
              <a:t>Quattro fotoni osservati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2331720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50" b="0" i="0">
                <a:solidFill>
                  <a:srgbClr val="112642"/>
                </a:solidFill>
                <a:latin typeface="Aptos"/>
              </a:rPr>
              <a:t>Perdita di fotoni e randomizzazione applicate a segnale e fondi.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2834640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900" b="1" i="0">
                <a:solidFill>
                  <a:srgbClr val="0B5FA5"/>
                </a:solidFill>
                <a:latin typeface="Aptos"/>
              </a:rPr>
              <a:t>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371600" y="2843784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1" i="0">
                <a:solidFill>
                  <a:srgbClr val="112642"/>
                </a:solidFill>
                <a:latin typeface="Aptos"/>
              </a:rPr>
              <a:t>Training UV e VIS separati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371600" y="3209544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50" b="0" i="0">
                <a:solidFill>
                  <a:srgbClr val="112642"/>
                </a:solidFill>
                <a:latin typeface="Aptos"/>
              </a:rPr>
              <a:t>Modello, soglia e provenance formano un unico bundle validato.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13232" y="3712464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900" b="1" i="0">
                <a:solidFill>
                  <a:srgbClr val="0B5FA5"/>
                </a:solidFill>
                <a:latin typeface="Aptos"/>
              </a:rPr>
              <a:t>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371600" y="3721608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1" i="0">
                <a:solidFill>
                  <a:srgbClr val="112642"/>
                </a:solidFill>
                <a:latin typeface="Aptos"/>
              </a:rPr>
              <a:t>Gate sui dati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371600" y="4087368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50" b="0" i="0">
                <a:solidFill>
                  <a:srgbClr val="112642"/>
                </a:solidFill>
                <a:latin typeface="Aptos"/>
              </a:rPr>
              <a:t>Stessa ipotesi e stesso pairing χ² dopo il filtro del BDT.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481263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Prestazioni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results/test_data/uv|vis/bdt/artifacts/stage1/stage1_metrics.txt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8096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UV  AUC 0,9975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690872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VIS  AUC 0,9995</a:t>
            </a:r>
          </a:p>
        </p:txBody>
      </p:sp>
      <p:pic>
        <p:nvPicPr>
          <p:cNvPr id="6" name="roc_uv.png" descr="roc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435608"/>
            <a:ext cx="3316224" cy="2487168"/>
          </a:xfrm>
          <a:prstGeom prst="rect">
            <a:avLst/>
          </a:prstGeom>
        </p:spPr>
      </p:pic>
      <p:pic>
        <p:nvPicPr>
          <p:cNvPr id="7" name="roc_vis.png" descr="roc_vis.png"/>
          <p:cNvPicPr>
            <a:picLocks noChangeAspect="1" noGr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424" y="1435608"/>
            <a:ext cx="3316224" cy="24871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740664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112642"/>
                </a:solidFill>
                <a:latin typeface="Aptos"/>
              </a:rPr>
              <a:t>F1 0,9842 · soglia 0,1233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663440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112642"/>
                </a:solidFill>
                <a:latin typeface="Aptos"/>
              </a:rPr>
              <a:t>F1 0,9956 · soglia 0,0740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334256"/>
            <a:ext cx="7772400" cy="2286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Validazione MC locale: AUC non misura la purezza sui dati reali.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4882896"/>
            <a:ext cx="529389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11/19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0704"/>
            <a:ext cx="32918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453896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Classifica run, target, UV/VIS e stato di polarizzazione.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002536"/>
            <a:ext cx="38404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395728"/>
            <a:ext cx="75438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Mediana di energia per strip 1–128; calibrazione per run e polarizzazione.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971800"/>
            <a:ext cx="63093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POL1 · POL2 · BREM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36499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112642"/>
                </a:solidFill>
                <a:latin typeface="Aptos"/>
              </a:rPr>
              <a:t>Terna completa richiesta; flusso mancante esclude l'intero run.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3968496"/>
            <a:ext cx="548640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50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343400"/>
            <a:ext cx="7498080" cy="2468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52657B"/>
                </a:solidFill>
                <a:latin typeface="Aptos"/>
              </a:rPr>
              <a:t>Assi energetici calibrati e pubblicazione atomica.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4882896"/>
            <a:ext cx="577515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600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0" i="0">
                <a:solidFill>
                  <a:srgbClr val="112642"/>
                </a:solidFill>
                <a:latin typeface="Aptos"/>
              </a:rPr>
              <a:t>Modulazione azimutale con fascio polarizzato linearmente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00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00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0" i="0">
                <a:solidFill>
                  <a:srgbClr val="112642"/>
                </a:solidFill>
                <a:latin typeface="Aptos"/>
              </a:rPr>
              <a:t>Stima armonica: R(φ) = Σ cos(2φ)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50" b="0" i="0">
                <a:solidFill>
                  <a:srgbClr val="112642"/>
                </a:solidFill>
                <a:latin typeface="Aptos"/>
              </a:rPr>
              <a:t>Likelihood condizionale come controllo; flussi e polarizzazioni specifici per run/strip.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50" b="0" i="0">
                <a:solidFill>
                  <a:srgbClr val="52657B"/>
                </a:solidFill>
                <a:latin typeface="Aptos"/>
              </a:rPr>
              <a:t>Griglia nominale: 12 bin in φ, 10 in massa, 3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4882896"/>
            <a:ext cx="625642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13/19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00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00" b="0" i="0">
                <a:solidFill>
                  <a:srgbClr val="112642"/>
                </a:solidFill>
                <a:latin typeface="Aptos"/>
              </a:rPr>
              <a:t>pη mostra struttura negativa in più bin di massa; qui compaiono solo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4882896"/>
            <a:ext cx="673768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14/19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1" i="0">
                <a:solidFill>
                  <a:srgbClr val="0B5FA5"/>
                </a:solidFill>
                <a:latin typeface="Aptos"/>
              </a:rPr>
              <a:t>1,40–1,50 GeV · nero: questa analisi · rosso: Ajaka et al.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50" b="0" i="0">
                <a:solidFill>
                  <a:srgbClr val="112642"/>
                </a:solidFill>
                <a:latin typeface="Aptos"/>
              </a:rPr>
              <a:t>Confronto punto per punto: accordi e scarti variano con massa e sottosistema; studio sistematico aperto.</a:t>
            </a:r>
          </a:p>
        </p:txBody>
      </p:sp>
      <p:sp>
        <p:nvSpPr>
          <p:cNvPr id="7" name="Fill 7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4882896"/>
            <a:ext cx="72189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15/19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00" b="1" i="0">
                <a:solidFill>
                  <a:srgbClr val="0B5FA5"/>
                </a:solidFill>
                <a:latin typeface="Aptos"/>
              </a:rPr>
              <a:t>0,9313–1,10 GeV: prima riga aggiunta alla figura combinata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50" b="0" i="0">
                <a:solidFill>
                  <a:srgbClr val="112642"/>
                </a:solidFill>
                <a:latin typeface="Aptos"/>
              </a:rPr>
              <a:t>pη tende a Σ negativa; ηπ⁰ mostra valori positivi in parte dei bin. Risultato locale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4882896"/>
            <a:ext cx="770021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16/19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Una finestra fisica nuova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00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50" b="0" i="0">
                <a:solidFill>
                  <a:srgbClr val="112642"/>
                </a:solidFill>
                <a:latin typeface="Aptos"/>
              </a:rPr>
              <a:t>Laser 514 nm; trasferimento vicino al 100% al bordo Compton. Nel range VIS varia con Eγ.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50" b="0" i="0">
                <a:solidFill>
                  <a:srgbClr val="112642"/>
                </a:solidFill>
                <a:latin typeface="Aptos"/>
              </a:rPr>
              <a:t>Code di risonanze larghe e intense possono interferire anche vicino alla soglia e generare Σ non piatta.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50" b="0" i="0">
                <a:solidFill>
                  <a:srgbClr val="52657B"/>
                </a:solidFill>
                <a:latin typeface="Aptos"/>
              </a:rPr>
              <a:t>Confronto con modelli teorici ancora in corso.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818147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17/19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200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900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50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112642"/>
                </a:solidFill>
                <a:latin typeface="Aptos"/>
              </a:rPr>
              <a:t>Confronto numerico di flussi calibrati e Σ, per run ed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900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50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112642"/>
                </a:solidFill>
                <a:latin typeface="Aptos"/>
              </a:rPr>
              <a:t>Sideband delle masse come controllo della modulazione di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900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50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112642"/>
                </a:solidFill>
                <a:latin typeface="Aptos"/>
              </a:rPr>
              <a:t>Rieseguire tutta la catena e verificare il recupero del valore iniziale.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900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50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112642"/>
                </a:solidFill>
                <a:latin typeface="Aptos"/>
              </a:rPr>
              <a:t>Flussi, polarizzazione, soglia BDT ed estimatore prima del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866273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18/19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00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FFFFFF"/>
                </a:solidFill>
                <a:latin typeface="Aptos"/>
              </a:rPr>
              <a:t>Differenziali e totali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DDEFFA"/>
                </a:solidFill>
                <a:latin typeface="Aptos"/>
              </a:rPr>
              <a:t>Primo paper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FFFFFF"/>
                </a:solidFill>
                <a:latin typeface="Aptos"/>
              </a:rPr>
              <a:t>Framework e risultati originali; sede di fisica da valutare.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FFFFFF"/>
                </a:solidFill>
                <a:latin typeface="Aptos"/>
              </a:rPr>
              <a:t>Riutilizzare il framework oltre pηπ⁰.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200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0" b="0" i="0">
                <a:solidFill>
                  <a:srgbClr val="FFFFFF"/>
                </a:solidFill>
                <a:latin typeface="Aptos"/>
              </a:rPr>
              <a:t>Dalitz plot non studiati prima; modelli teorici in corso.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00" b="0" i="0">
                <a:solidFill>
                  <a:srgbClr val="DDEFFA"/>
                </a:solidFill>
                <a:latin typeface="Aptos"/>
              </a:rPr>
              <a:t>Controlli delle sideband e del MC piatto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4923130"/>
            <a:ext cx="5120640" cy="1280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4917643"/>
            <a:ext cx="493776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2026-10-06T11:35:12Z</dcterms:created>
  <dcterms:modified xsi:type="dcterms:W3CDTF">2026-10-06T11:35:12Z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