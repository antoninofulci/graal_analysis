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Default Extension="png" ContentType="image/png"/>
  <Default Extension="jpg" ContentType="image/jpeg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graal_slide2_graal_detector_source.jpg"/></Relationships>
</file>

<file path=ppt/slides/_rels/slide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graal_slide8_score_uv.png"/></Relationships>
</file>

<file path=ppt/slides/_rels/slide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graal_slide10_roc_uv.png"/><Relationship Id="rId3" Type="http://schemas.openxmlformats.org/officeDocument/2006/relationships/image" Target="../media/graal_slide10_roc_vis.png"/></Relationships>
</file>

<file path=ppt/slides/_rels/slide1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graal_slide13_sigma_uv.png"/></Relationships>
</file>

<file path=ppt/slides/_rels/slide1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graal_slide14_ajaka_uv.png"/></Relationships>
</file>

<file path=ppt/slides/_rels/slide1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graal_slide15_sigma_vis.png"/></Relationships>
</file>

<file path=ppt/slides/_rels/slide1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graal_slide16_polarization.png"/></Relationships>
</file>

<file path=ppt/slides/_rels/slide1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1E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12648" y="612648"/>
            <a:ext cx="7772400" cy="71323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43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640080" y="1874520"/>
            <a:ext cx="5623560" cy="84124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4128" b="1" i="0">
                <a:solidFill>
                  <a:srgbClr val="DDEFFA"/>
                </a:solidFill>
                <a:latin typeface="Aptos"/>
              </a:rPr>
              <a:t>γp → pηπ⁰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400800" y="1234440"/>
            <a:ext cx="2103120" cy="24231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r"/>
            <a:r>
              <a:rPr lang="it-IT" sz="14104" b="1" i="0">
                <a:solidFill>
                  <a:srgbClr val="0877C7"/>
                </a:solidFill>
                <a:latin typeface="Aptos"/>
              </a:rPr>
              <a:t>Σ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58368" y="4352544"/>
            <a:ext cx="7863840" cy="25603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00" b="0" i="0">
                <a:solidFill>
                  <a:srgbClr val="DDEFFA"/>
                </a:solidFill>
                <a:latin typeface="Aptos"/>
              </a:rPr>
              <a:t>6 ottobre 2026</a:t>
            </a:r>
          </a:p>
        </p:txBody>
      </p:sp>
      <p:sp>
        <p:nvSpPr>
          <p:cNvPr id="6" name="Fill 6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7" name="Fill 7"/>
          <p:cNvSpPr/>
          <p:nvPr/>
        </p:nvSpPr>
        <p:spPr>
          <a:xfrm>
            <a:off x="0" y="0"/>
            <a:ext cx="508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8" name="Text 8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9" name="Fill 9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0" name="Fill 10"/>
          <p:cNvSpPr/>
          <p:nvPr/>
        </p:nvSpPr>
        <p:spPr>
          <a:xfrm>
            <a:off x="0" y="4882896"/>
            <a:ext cx="508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1" name="Text 11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INTRO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01/18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GRAAL e obiettivo del lavoro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D. Rebreyend (MENU04); V. Nedorezov (2015); Ajaka et al., PRL 100 (2008)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58368" y="1042416"/>
            <a:ext cx="3840480" cy="347472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806" b="1" i="0">
                <a:solidFill>
                  <a:srgbClr val="0B5FA5"/>
                </a:solidFill>
                <a:latin typeface="Aptos"/>
              </a:rPr>
              <a:t>GRAAL all'ESRF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58368" y="1417320"/>
            <a:ext cx="3776472" cy="969264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462" b="0" i="0" dirty="0">
                <a:solidFill>
                  <a:srgbClr val="112642"/>
                </a:solidFill>
                <a:latin typeface="Aptos"/>
              </a:rPr>
              <a:t>A Grenoble, il </a:t>
            </a:r>
            <a:r>
              <a:rPr lang="it-IT" sz="1462" b="0" i="0" dirty="0" err="1">
                <a:solidFill>
                  <a:srgbClr val="112642"/>
                </a:solidFill>
                <a:latin typeface="Aptos"/>
              </a:rPr>
              <a:t>backscattering</a:t>
            </a:r>
            <a:r>
              <a:rPr lang="it-IT" sz="1462" b="0" i="0" dirty="0">
                <a:solidFill>
                  <a:srgbClr val="112642"/>
                </a:solidFill>
                <a:latin typeface="Aptos"/>
              </a:rPr>
              <a:t> Compton del laser sugli elettroni dell'anello produce fotoni polarizzati. </a:t>
            </a:r>
            <a:r>
              <a:rPr lang="it-IT" sz="1462" b="0" i="0" dirty="0" err="1">
                <a:solidFill>
                  <a:srgbClr val="112642"/>
                </a:solidFill>
                <a:latin typeface="Aptos"/>
              </a:rPr>
              <a:t>LAGRANγE</a:t>
            </a:r>
            <a:r>
              <a:rPr lang="it-IT" sz="1462" b="0" i="0" dirty="0">
                <a:solidFill>
                  <a:srgbClr val="112642"/>
                </a:solidFill>
                <a:latin typeface="Aptos"/>
              </a:rPr>
              <a:t> registra i prodotti della reazione su un ampio angolo.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658368" y="2542032"/>
            <a:ext cx="3840480" cy="347472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806" b="1" i="0">
                <a:solidFill>
                  <a:srgbClr val="0B5FA5"/>
                </a:solidFill>
                <a:latin typeface="Aptos"/>
              </a:rPr>
              <a:t>Il nostro lavoro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58368" y="2907792"/>
            <a:ext cx="3970782" cy="621792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it-IT" sz="1462" b="0" i="0" dirty="0">
                <a:solidFill>
                  <a:srgbClr val="112642"/>
                </a:solidFill>
                <a:latin typeface="Aptos"/>
              </a:rPr>
              <a:t>Framework che porta i dati GRAAL dalla </a:t>
            </a:r>
            <a:r>
              <a:rPr lang="it-IT" sz="1462" b="0" i="0" dirty="0" err="1">
                <a:solidFill>
                  <a:srgbClr val="112642"/>
                </a:solidFill>
                <a:latin typeface="Aptos"/>
              </a:rPr>
              <a:t>pre</a:t>
            </a:r>
            <a:r>
              <a:rPr lang="it-IT" sz="1462" b="0" i="0" dirty="0">
                <a:solidFill>
                  <a:srgbClr val="112642"/>
                </a:solidFill>
                <a:latin typeface="Aptos"/>
              </a:rPr>
              <a:t>-selezione all'estrazione delle asimmetrie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58368" y="3602736"/>
            <a:ext cx="3776472" cy="548640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it-IT" sz="1462" b="0" i="0" dirty="0">
                <a:solidFill>
                  <a:srgbClr val="112642"/>
                </a:solidFill>
                <a:latin typeface="Aptos"/>
              </a:rPr>
              <a:t>Testato su </a:t>
            </a:r>
            <a:r>
              <a:rPr lang="it-IT" sz="1462" b="0" i="0" dirty="0" err="1">
                <a:solidFill>
                  <a:srgbClr val="112642"/>
                </a:solidFill>
                <a:latin typeface="Aptos"/>
              </a:rPr>
              <a:t>γp</a:t>
            </a:r>
            <a:r>
              <a:rPr lang="it-IT" sz="1462" b="0" i="0" dirty="0">
                <a:solidFill>
                  <a:srgbClr val="112642"/>
                </a:solidFill>
                <a:latin typeface="Aptos"/>
              </a:rPr>
              <a:t> → </a:t>
            </a:r>
            <a:r>
              <a:rPr lang="it-IT" sz="1462" b="0" i="0" dirty="0" err="1">
                <a:solidFill>
                  <a:srgbClr val="112642"/>
                </a:solidFill>
                <a:latin typeface="Aptos"/>
              </a:rPr>
              <a:t>pη</a:t>
            </a:r>
            <a:r>
              <a:rPr lang="it-IT" sz="1462" b="0" i="0" dirty="0">
                <a:solidFill>
                  <a:srgbClr val="112642"/>
                </a:solidFill>
                <a:latin typeface="Aptos"/>
              </a:rPr>
              <a:t>π⁰, confrontando i risultati con </a:t>
            </a:r>
            <a:r>
              <a:rPr lang="it-IT" sz="1462" b="0" i="0" dirty="0" err="1">
                <a:solidFill>
                  <a:srgbClr val="112642"/>
                </a:solidFill>
                <a:latin typeface="Aptos"/>
              </a:rPr>
              <a:t>Ajaka</a:t>
            </a:r>
            <a:r>
              <a:rPr lang="it-IT" sz="1462" b="0" i="0" dirty="0">
                <a:solidFill>
                  <a:srgbClr val="112642"/>
                </a:solidFill>
                <a:latin typeface="Aptos"/>
              </a:rPr>
              <a:t> et al. (2008).</a:t>
            </a:r>
          </a:p>
        </p:txBody>
      </p:sp>
      <p:pic>
        <p:nvPicPr>
          <p:cNvPr id="9" name="graal_detector_source.jpg" descr="graal_detector_source.jpg"/>
          <p:cNvPicPr>
            <a:picLocks noGrp="1" noChangeAspect="1"/>
          </p:cNvPicPr>
          <p:nvPr/>
        </p:nvPicPr>
        <p:blipFill>
          <a:blip r:embed="rId2"/>
          <a:srcRect l="5000" t="18000" r="34000" b="24000"/>
          <a:stretch>
            <a:fillRect/>
          </a:stretch>
        </p:blipFill>
        <p:spPr>
          <a:xfrm>
            <a:off x="4700016" y="1106424"/>
            <a:ext cx="3730752" cy="2660904"/>
          </a:xfrm>
          <a:prstGeom prst="rect">
            <a:avLst/>
          </a:prstGeom>
        </p:spPr>
      </p:pic>
      <p:sp>
        <p:nvSpPr>
          <p:cNvPr id="10" name="Text 10"/>
          <p:cNvSpPr txBox="1"/>
          <p:nvPr/>
        </p:nvSpPr>
        <p:spPr>
          <a:xfrm>
            <a:off x="4709160" y="3803904"/>
            <a:ext cx="3703320" cy="219456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100" b="0" i="0">
                <a:solidFill>
                  <a:srgbClr val="52657B"/>
                </a:solidFill>
                <a:latin typeface="Aptos"/>
              </a:rPr>
              <a:t>LAGRANγE: fascio (1), bersaglio (2), BGO (3), parete (8)</a:t>
            </a:r>
          </a:p>
        </p:txBody>
      </p:sp>
      <p:sp>
        <p:nvSpPr>
          <p:cNvPr id="12" name="Fill 12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3" name="Fill 13"/>
          <p:cNvSpPr/>
          <p:nvPr/>
        </p:nvSpPr>
        <p:spPr>
          <a:xfrm>
            <a:off x="0" y="0"/>
            <a:ext cx="1016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4" name="Text 14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5" name="Fill 15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6" name="Fill 16"/>
          <p:cNvSpPr/>
          <p:nvPr/>
        </p:nvSpPr>
        <p:spPr>
          <a:xfrm>
            <a:off x="0" y="4882896"/>
            <a:ext cx="1016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7" name="Text 17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INTRO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02/18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Il flusso completo dell'analisi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wiki/workflow.md; wiki/data-and-artifacts.md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12648" y="1207008"/>
            <a:ext cx="694944" cy="27432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200" b="1" i="0">
                <a:solidFill>
                  <a:srgbClr val="0B5FA5"/>
                </a:solidFill>
                <a:latin typeface="Aptos"/>
              </a:rPr>
              <a:t>DATI</a:t>
            </a:r>
          </a:p>
        </p:txBody>
      </p:sp>
      <p:sp>
        <p:nvSpPr>
          <p:cNvPr id="5" name="Fill 5"/>
          <p:cNvSpPr/>
          <p:nvPr/>
        </p:nvSpPr>
        <p:spPr>
          <a:xfrm>
            <a:off x="1325880" y="1033272"/>
            <a:ext cx="1207008" cy="576072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6" name="Text 6"/>
          <p:cNvSpPr txBox="1"/>
          <p:nvPr/>
        </p:nvSpPr>
        <p:spPr>
          <a:xfrm>
            <a:off x="1399032" y="1069848"/>
            <a:ext cx="1060704" cy="50292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500" b="1" i="0">
                <a:solidFill>
                  <a:srgbClr val="071E42"/>
                </a:solidFill>
                <a:latin typeface="Aptos"/>
              </a:rPr>
              <a:t>ROOT h70</a:t>
            </a:r>
          </a:p>
          <a:p>
            <a:pPr algn="ctr"/>
            <a:r>
              <a:rPr lang="it-IT" sz="1500" b="1" i="0">
                <a:solidFill>
                  <a:srgbClr val="071E42"/>
                </a:solidFill>
                <a:latin typeface="Aptos"/>
              </a:rPr>
              <a:t>grezzi</a:t>
            </a:r>
          </a:p>
        </p:txBody>
      </p:sp>
      <p:sp>
        <p:nvSpPr>
          <p:cNvPr id="7" name="Fill 7"/>
          <p:cNvSpPr/>
          <p:nvPr/>
        </p:nvSpPr>
        <p:spPr>
          <a:xfrm>
            <a:off x="2752344" y="1033272"/>
            <a:ext cx="1261872" cy="576072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8" name="Text 8"/>
          <p:cNvSpPr txBox="1"/>
          <p:nvPr/>
        </p:nvSpPr>
        <p:spPr>
          <a:xfrm>
            <a:off x="2825496" y="1069848"/>
            <a:ext cx="1115568" cy="50292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500" b="1" i="0">
                <a:solidFill>
                  <a:srgbClr val="071E42"/>
                </a:solidFill>
                <a:latin typeface="Aptos"/>
              </a:rPr>
              <a:t>Pre-analisi</a:t>
            </a:r>
          </a:p>
          <a:p>
            <a:pPr algn="ctr"/>
            <a:r>
              <a:rPr lang="it-IT" sz="1500" b="1" i="0">
                <a:solidFill>
                  <a:srgbClr val="071E42"/>
                </a:solidFill>
                <a:latin typeface="Aptos"/>
              </a:rPr>
              <a:t>h80</a:t>
            </a:r>
          </a:p>
        </p:txBody>
      </p:sp>
      <p:sp>
        <p:nvSpPr>
          <p:cNvPr id="9" name="Fill 9"/>
          <p:cNvSpPr/>
          <p:nvPr/>
        </p:nvSpPr>
        <p:spPr>
          <a:xfrm>
            <a:off x="4242816" y="1033272"/>
            <a:ext cx="1234440" cy="576072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10" name="Text 10"/>
          <p:cNvSpPr txBox="1"/>
          <p:nvPr/>
        </p:nvSpPr>
        <p:spPr>
          <a:xfrm>
            <a:off x="4315968" y="1069848"/>
            <a:ext cx="1088136" cy="50292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500" b="1" i="0">
                <a:solidFill>
                  <a:srgbClr val="071E42"/>
                </a:solidFill>
                <a:latin typeface="Aptos"/>
              </a:rPr>
              <a:t>Selezione</a:t>
            </a:r>
          </a:p>
          <a:p>
            <a:pPr algn="ctr"/>
            <a:r>
              <a:rPr lang="it-IT" sz="1500" b="1" i="0">
                <a:solidFill>
                  <a:srgbClr val="071E42"/>
                </a:solidFill>
                <a:latin typeface="Aptos"/>
              </a:rPr>
              <a:t>h85</a:t>
            </a:r>
          </a:p>
        </p:txBody>
      </p:sp>
      <p:sp>
        <p:nvSpPr>
          <p:cNvPr id="11" name="Fill 11"/>
          <p:cNvSpPr/>
          <p:nvPr/>
        </p:nvSpPr>
        <p:spPr>
          <a:xfrm>
            <a:off x="5705856" y="1033272"/>
            <a:ext cx="1307592" cy="576072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12" name="Text 12"/>
          <p:cNvSpPr txBox="1"/>
          <p:nvPr/>
        </p:nvSpPr>
        <p:spPr>
          <a:xfrm>
            <a:off x="5779008" y="1069848"/>
            <a:ext cx="1161288" cy="50292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300" b="1" i="0">
                <a:solidFill>
                  <a:srgbClr val="071E42"/>
                </a:solidFill>
                <a:latin typeface="Aptos"/>
              </a:rPr>
              <a:t>Ricostruzione</a:t>
            </a:r>
          </a:p>
          <a:p>
            <a:pPr algn="ctr"/>
            <a:r>
              <a:rPr lang="it-IT" sz="1300" b="1" i="0">
                <a:solidFill>
                  <a:srgbClr val="071E42"/>
                </a:solidFill>
                <a:latin typeface="Aptos"/>
              </a:rPr>
              <a:t>pηπ⁰</a:t>
            </a:r>
          </a:p>
        </p:txBody>
      </p:sp>
      <p:sp>
        <p:nvSpPr>
          <p:cNvPr id="13" name="Fill 13"/>
          <p:cNvSpPr/>
          <p:nvPr/>
        </p:nvSpPr>
        <p:spPr>
          <a:xfrm>
            <a:off x="7260336" y="1033272"/>
            <a:ext cx="1252728" cy="576072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14" name="Text 14"/>
          <p:cNvSpPr txBox="1"/>
          <p:nvPr/>
        </p:nvSpPr>
        <p:spPr>
          <a:xfrm>
            <a:off x="7333488" y="1069848"/>
            <a:ext cx="1106424" cy="50292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500" b="1" i="0">
                <a:solidFill>
                  <a:srgbClr val="071E42"/>
                </a:solidFill>
                <a:latin typeface="Aptos"/>
              </a:rPr>
              <a:t>Σ e figure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2523744" y="1033272"/>
            <a:ext cx="274320" cy="57607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978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4014216" y="1033272"/>
            <a:ext cx="274320" cy="57607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978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5477256" y="1033272"/>
            <a:ext cx="274320" cy="57607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978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7013448" y="1033272"/>
            <a:ext cx="274320" cy="57607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978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1335024" y="1673352"/>
            <a:ext cx="7159752" cy="28346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50" b="0" i="0">
                <a:solidFill>
                  <a:srgbClr val="52657B"/>
                </a:solidFill>
                <a:latin typeface="Aptos"/>
              </a:rPr>
              <a:t>Il percorso principale trasforma i dati del rivelatore in eventi ricostruiti e osservabili.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612648" y="2340864"/>
            <a:ext cx="694944" cy="31089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200" b="1" i="0">
                <a:solidFill>
                  <a:srgbClr val="0B5FA5"/>
                </a:solidFill>
                <a:latin typeface="Aptos"/>
              </a:rPr>
              <a:t>MC / BDT</a:t>
            </a:r>
          </a:p>
        </p:txBody>
      </p:sp>
      <p:sp>
        <p:nvSpPr>
          <p:cNvPr id="21" name="Fill 21"/>
          <p:cNvSpPr/>
          <p:nvPr/>
        </p:nvSpPr>
        <p:spPr>
          <a:xfrm>
            <a:off x="1325880" y="2157984"/>
            <a:ext cx="1581912" cy="576072"/>
          </a:xfrm>
          <a:prstGeom prst="roundRect">
            <a:avLst/>
          </a:prstGeom>
          <a:solidFill>
            <a:srgbClr val="EAF4FB"/>
          </a:solidFill>
          <a:ln>
            <a:noFill/>
          </a:ln>
        </p:spPr>
      </p:sp>
      <p:sp>
        <p:nvSpPr>
          <p:cNvPr id="22" name="Text 22"/>
          <p:cNvSpPr txBox="1"/>
          <p:nvPr/>
        </p:nvSpPr>
        <p:spPr>
          <a:xfrm>
            <a:off x="1399032" y="2194560"/>
            <a:ext cx="1435608" cy="50292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9 canali MC</a:t>
            </a:r>
          </a:p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e spettro h85</a:t>
            </a:r>
          </a:p>
        </p:txBody>
      </p:sp>
      <p:sp>
        <p:nvSpPr>
          <p:cNvPr id="23" name="Fill 23"/>
          <p:cNvSpPr/>
          <p:nvPr/>
        </p:nvSpPr>
        <p:spPr>
          <a:xfrm>
            <a:off x="3236976" y="2157984"/>
            <a:ext cx="1554480" cy="576072"/>
          </a:xfrm>
          <a:prstGeom prst="roundRect">
            <a:avLst/>
          </a:prstGeom>
          <a:solidFill>
            <a:srgbClr val="EAF4FB"/>
          </a:solidFill>
          <a:ln>
            <a:noFill/>
          </a:ln>
        </p:spPr>
      </p:sp>
      <p:sp>
        <p:nvSpPr>
          <p:cNvPr id="24" name="Text 24"/>
          <p:cNvSpPr txBox="1"/>
          <p:nvPr/>
        </p:nvSpPr>
        <p:spPr>
          <a:xfrm>
            <a:off x="3310128" y="2194560"/>
            <a:ext cx="1408176" cy="50292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26 variabili</a:t>
            </a:r>
          </a:p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per evento</a:t>
            </a:r>
          </a:p>
        </p:txBody>
      </p:sp>
      <p:sp>
        <p:nvSpPr>
          <p:cNvPr id="25" name="Fill 25"/>
          <p:cNvSpPr/>
          <p:nvPr/>
        </p:nvSpPr>
        <p:spPr>
          <a:xfrm>
            <a:off x="5120640" y="2157984"/>
            <a:ext cx="1554480" cy="576072"/>
          </a:xfrm>
          <a:prstGeom prst="roundRect">
            <a:avLst/>
          </a:prstGeom>
          <a:solidFill>
            <a:srgbClr val="EAF4FB"/>
          </a:solidFill>
          <a:ln>
            <a:noFill/>
          </a:ln>
        </p:spPr>
      </p:sp>
      <p:sp>
        <p:nvSpPr>
          <p:cNvPr id="26" name="Text 26"/>
          <p:cNvSpPr txBox="1"/>
          <p:nvPr/>
        </p:nvSpPr>
        <p:spPr>
          <a:xfrm>
            <a:off x="5193792" y="2194560"/>
            <a:ext cx="1408176" cy="50292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Training</a:t>
            </a:r>
          </a:p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UV e VIS</a:t>
            </a:r>
          </a:p>
        </p:txBody>
      </p:sp>
      <p:sp>
        <p:nvSpPr>
          <p:cNvPr id="27" name="Fill 27"/>
          <p:cNvSpPr/>
          <p:nvPr/>
        </p:nvSpPr>
        <p:spPr>
          <a:xfrm>
            <a:off x="7004304" y="2157984"/>
            <a:ext cx="1508760" cy="576072"/>
          </a:xfrm>
          <a:prstGeom prst="roundRect">
            <a:avLst/>
          </a:prstGeom>
          <a:solidFill>
            <a:srgbClr val="EAF4FB"/>
          </a:solidFill>
          <a:ln>
            <a:noFill/>
          </a:ln>
        </p:spPr>
      </p:sp>
      <p:sp>
        <p:nvSpPr>
          <p:cNvPr id="28" name="Text 28"/>
          <p:cNvSpPr txBox="1"/>
          <p:nvPr/>
        </p:nvSpPr>
        <p:spPr>
          <a:xfrm>
            <a:off x="7077456" y="2194560"/>
            <a:ext cx="1362456" cy="50292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Gate BDT</a:t>
            </a:r>
          </a:p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sui dati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2916936" y="2157984"/>
            <a:ext cx="274320" cy="57607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978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4800600" y="2157984"/>
            <a:ext cx="274320" cy="57607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978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31" name="Text 31"/>
          <p:cNvSpPr txBox="1"/>
          <p:nvPr/>
        </p:nvSpPr>
        <p:spPr>
          <a:xfrm>
            <a:off x="6684264" y="2157984"/>
            <a:ext cx="274320" cy="57607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978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32" name="Text 32"/>
          <p:cNvSpPr txBox="1"/>
          <p:nvPr/>
        </p:nvSpPr>
        <p:spPr>
          <a:xfrm>
            <a:off x="1335024" y="2798064"/>
            <a:ext cx="7159752" cy="28346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50" b="0" i="0">
                <a:solidFill>
                  <a:srgbClr val="52657B"/>
                </a:solidFill>
                <a:latin typeface="Aptos"/>
              </a:rPr>
              <a:t>Il classificatore apprende dal MC e dallo spettro misurato; il gate precede la ricostruzione.</a:t>
            </a:r>
          </a:p>
        </p:txBody>
      </p:sp>
      <p:sp>
        <p:nvSpPr>
          <p:cNvPr id="33" name="Text 33"/>
          <p:cNvSpPr txBox="1"/>
          <p:nvPr/>
        </p:nvSpPr>
        <p:spPr>
          <a:xfrm>
            <a:off x="612648" y="3465576"/>
            <a:ext cx="694944" cy="31089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200" b="1" i="0">
                <a:solidFill>
                  <a:srgbClr val="0B5FA5"/>
                </a:solidFill>
                <a:latin typeface="Aptos"/>
              </a:rPr>
              <a:t>FLUSSI</a:t>
            </a:r>
          </a:p>
        </p:txBody>
      </p:sp>
      <p:sp>
        <p:nvSpPr>
          <p:cNvPr id="34" name="Fill 34"/>
          <p:cNvSpPr/>
          <p:nvPr/>
        </p:nvSpPr>
        <p:spPr>
          <a:xfrm>
            <a:off x="1325880" y="3282696"/>
            <a:ext cx="1901952" cy="576072"/>
          </a:xfrm>
          <a:prstGeom prst="roundRect">
            <a:avLst/>
          </a:prstGeom>
          <a:solidFill>
            <a:srgbClr val="EEF6FC"/>
          </a:solidFill>
          <a:ln>
            <a:noFill/>
          </a:ln>
        </p:spPr>
      </p:sp>
      <p:sp>
        <p:nvSpPr>
          <p:cNvPr id="35" name="Text 35"/>
          <p:cNvSpPr txBox="1"/>
          <p:nvPr/>
        </p:nvSpPr>
        <p:spPr>
          <a:xfrm>
            <a:off x="1399032" y="3319272"/>
            <a:ext cx="1755648" cy="50292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h80, manifest</a:t>
            </a:r>
          </a:p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e flussi esterni</a:t>
            </a:r>
          </a:p>
        </p:txBody>
      </p:sp>
      <p:sp>
        <p:nvSpPr>
          <p:cNvPr id="36" name="Fill 36"/>
          <p:cNvSpPr/>
          <p:nvPr/>
        </p:nvSpPr>
        <p:spPr>
          <a:xfrm>
            <a:off x="3602736" y="3282696"/>
            <a:ext cx="2011680" cy="576072"/>
          </a:xfrm>
          <a:prstGeom prst="roundRect">
            <a:avLst/>
          </a:prstGeom>
          <a:solidFill>
            <a:srgbClr val="EEF6FC"/>
          </a:solidFill>
          <a:ln>
            <a:noFill/>
          </a:ln>
        </p:spPr>
      </p:sp>
      <p:sp>
        <p:nvSpPr>
          <p:cNvPr id="37" name="Text 37"/>
          <p:cNvSpPr txBox="1"/>
          <p:nvPr/>
        </p:nvSpPr>
        <p:spPr>
          <a:xfrm>
            <a:off x="3675888" y="3319272"/>
            <a:ext cx="1865376" cy="50292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Energia per strip</a:t>
            </a:r>
          </a:p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e polarizzazione</a:t>
            </a:r>
          </a:p>
        </p:txBody>
      </p:sp>
      <p:sp>
        <p:nvSpPr>
          <p:cNvPr id="38" name="Fill 38"/>
          <p:cNvSpPr/>
          <p:nvPr/>
        </p:nvSpPr>
        <p:spPr>
          <a:xfrm>
            <a:off x="5998464" y="3282696"/>
            <a:ext cx="2514600" cy="576072"/>
          </a:xfrm>
          <a:prstGeom prst="roundRect">
            <a:avLst/>
          </a:prstGeom>
          <a:solidFill>
            <a:srgbClr val="EEF6FC"/>
          </a:solidFill>
          <a:ln>
            <a:noFill/>
          </a:ln>
        </p:spPr>
      </p:sp>
      <p:sp>
        <p:nvSpPr>
          <p:cNvPr id="39" name="Text 39"/>
          <p:cNvSpPr txBox="1"/>
          <p:nvPr/>
        </p:nvSpPr>
        <p:spPr>
          <a:xfrm>
            <a:off x="6071616" y="3319272"/>
            <a:ext cx="2368296" cy="50292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Flussi calibrati</a:t>
            </a:r>
          </a:p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POL1 / POL2 / BREM</a:t>
            </a:r>
          </a:p>
        </p:txBody>
      </p:sp>
      <p:sp>
        <p:nvSpPr>
          <p:cNvPr id="40" name="Text 40"/>
          <p:cNvSpPr txBox="1"/>
          <p:nvPr/>
        </p:nvSpPr>
        <p:spPr>
          <a:xfrm>
            <a:off x="3255264" y="3282696"/>
            <a:ext cx="274320" cy="57607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978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41" name="Text 41"/>
          <p:cNvSpPr txBox="1"/>
          <p:nvPr/>
        </p:nvSpPr>
        <p:spPr>
          <a:xfrm>
            <a:off x="5650992" y="3282696"/>
            <a:ext cx="274320" cy="57607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978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42" name="Text 42"/>
          <p:cNvSpPr txBox="1"/>
          <p:nvPr/>
        </p:nvSpPr>
        <p:spPr>
          <a:xfrm>
            <a:off x="667512" y="4123944"/>
            <a:ext cx="7891272" cy="38404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33" b="0" i="0">
                <a:solidFill>
                  <a:srgbClr val="112642"/>
                </a:solidFill>
                <a:latin typeface="Aptos"/>
              </a:rPr>
              <a:t>Gli estimatori di Σ combinano eventi ricostruiti, esposizione calibrata e polarizzazione per run.</a:t>
            </a:r>
          </a:p>
        </p:txBody>
      </p:sp>
      <p:sp>
        <p:nvSpPr>
          <p:cNvPr id="43" name="Fill 43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44" name="Fill 44"/>
          <p:cNvSpPr/>
          <p:nvPr/>
        </p:nvSpPr>
        <p:spPr>
          <a:xfrm>
            <a:off x="0" y="0"/>
            <a:ext cx="1524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45" name="Text 45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46" name="Fill 46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47" name="Fill 47"/>
          <p:cNvSpPr/>
          <p:nvPr/>
        </p:nvSpPr>
        <p:spPr>
          <a:xfrm>
            <a:off x="0" y="4882896"/>
            <a:ext cx="1524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48" name="Text 48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FRAMEWORK</a:t>
            </a:r>
          </a:p>
        </p:txBody>
      </p:sp>
      <p:sp>
        <p:nvSpPr>
          <p:cNvPr id="49" name="Text 49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03/18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Dai dati Fortran alla preselezione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850" b="0" i="0" dirty="0">
                <a:solidFill>
                  <a:srgbClr val="52657B"/>
                </a:solidFill>
                <a:latin typeface="Aptos"/>
              </a:rPr>
              <a:t>Fonte: codice semplificato da </a:t>
            </a:r>
            <a:r>
              <a:rPr lang="it-IT" sz="850" b="0" i="0" dirty="0" err="1">
                <a:solidFill>
                  <a:srgbClr val="52657B"/>
                </a:solidFill>
                <a:latin typeface="Aptos"/>
              </a:rPr>
              <a:t>PreAnalysis.C</a:t>
            </a:r>
            <a:r>
              <a:rPr lang="it-IT" sz="850" b="0" i="0" dirty="0">
                <a:solidFill>
                  <a:srgbClr val="52657B"/>
                </a:solidFill>
                <a:latin typeface="Aptos"/>
              </a:rPr>
              <a:t> e </a:t>
            </a:r>
            <a:r>
              <a:rPr lang="it-IT" sz="850" b="0" i="0" dirty="0" err="1">
                <a:solidFill>
                  <a:srgbClr val="52657B"/>
                </a:solidFill>
                <a:latin typeface="Aptos"/>
              </a:rPr>
              <a:t>select_events.py</a:t>
            </a:r>
            <a:r>
              <a:rPr lang="it-IT" sz="850" b="0" i="0" dirty="0">
                <a:solidFill>
                  <a:srgbClr val="52657B"/>
                </a:solidFill>
                <a:latin typeface="Aptos"/>
              </a:rPr>
              <a:t/>
            </a:r>
          </a:p>
        </p:txBody>
      </p:sp>
      <p:sp>
        <p:nvSpPr>
          <p:cNvPr id="4" name="Text 4"/>
          <p:cNvSpPr txBox="1"/>
          <p:nvPr/>
        </p:nvSpPr>
        <p:spPr>
          <a:xfrm>
            <a:off x="658368" y="987552"/>
            <a:ext cx="7845552" cy="566928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419" b="0" i="0" dirty="0">
                <a:solidFill>
                  <a:srgbClr val="112642"/>
                </a:solidFill>
                <a:latin typeface="Aptos"/>
              </a:rPr>
              <a:t>Le routine Fortran hanno prodotto i dati storici. </a:t>
            </a:r>
            <a:r>
              <a:rPr lang="it-IT" sz="1419" b="0" i="1" dirty="0">
                <a:solidFill>
                  <a:srgbClr val="112642"/>
                </a:solidFill>
                <a:latin typeface="Aptos"/>
              </a:rPr>
              <a:t>Antonio Riggio </a:t>
            </a:r>
            <a:r>
              <a:rPr lang="it-IT" sz="1419" b="0" i="0" dirty="0">
                <a:solidFill>
                  <a:srgbClr val="112642"/>
                </a:solidFill>
                <a:latin typeface="Aptos"/>
              </a:rPr>
              <a:t>li ha convertiti in ROOT h70 e ha preparato i tagli PID; il codice della repo parte dai file h70 già convertiti.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58368" y="1618488"/>
            <a:ext cx="7845552" cy="457200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376" b="1" i="0" dirty="0">
                <a:solidFill>
                  <a:srgbClr val="0B5FA5"/>
                </a:solidFill>
                <a:latin typeface="Aptos"/>
              </a:rPr>
              <a:t>Con C++/ROOT produciamo h80; Python/</a:t>
            </a:r>
            <a:r>
              <a:rPr lang="it-IT" sz="1376" b="1" i="0" dirty="0" err="1">
                <a:solidFill>
                  <a:srgbClr val="0B5FA5"/>
                </a:solidFill>
                <a:latin typeface="Aptos"/>
              </a:rPr>
              <a:t>PyROOT</a:t>
            </a:r>
            <a:r>
              <a:rPr lang="it-IT" sz="1376" b="1" i="0" dirty="0">
                <a:solidFill>
                  <a:srgbClr val="0B5FA5"/>
                </a:solidFill>
                <a:latin typeface="Aptos"/>
              </a:rPr>
              <a:t> filtra gli eventi in h85.</a:t>
            </a:r>
          </a:p>
        </p:txBody>
      </p:sp>
      <p:sp>
        <p:nvSpPr>
          <p:cNvPr id="6" name="Fill 6"/>
          <p:cNvSpPr/>
          <p:nvPr/>
        </p:nvSpPr>
        <p:spPr>
          <a:xfrm>
            <a:off x="667512" y="2258568"/>
            <a:ext cx="3374136" cy="804672"/>
          </a:xfrm>
          <a:prstGeom prst="round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7" name="Text 7"/>
          <p:cNvSpPr txBox="1"/>
          <p:nvPr/>
        </p:nvSpPr>
        <p:spPr>
          <a:xfrm>
            <a:off x="832104" y="2350008"/>
            <a:ext cx="3054096" cy="576072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1280" b="0" i="0">
                <a:solidFill>
                  <a:srgbClr val="FFFFFF"/>
                </a:solidFill>
                <a:latin typeface="Aptos"/>
              </a:rPr>
              <a:t>auto* cut = RequireCut("Proton","Cnt",Idrun);</a:t>
            </a:r>
          </a:p>
          <a:p>
            <a:pPr algn="l"/>
            <a:r>
              <a:rPr lang="it-IT" sz="1280" b="0" i="0">
                <a:solidFill>
                  <a:srgbClr val="FFFFFF"/>
                </a:solidFill>
                <a:latin typeface="Aptos"/>
              </a:rPr>
              <a:t>cut-&gt;IsInside(Eclusc_track[i],</a:t>
            </a:r>
          </a:p>
          <a:p>
            <a:pPr algn="l"/>
            <a:r>
              <a:rPr lang="it-IT" sz="1280" b="0" i="0">
                <a:solidFill>
                  <a:srgbClr val="FFFFFF"/>
                </a:solidFill>
                <a:latin typeface="Aptos"/>
              </a:rPr>
              <a:t>              Dedx_track[i]);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4123944" y="2368296"/>
            <a:ext cx="411480" cy="585216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it-IT" sz="2408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9" name="Fill 9"/>
          <p:cNvSpPr/>
          <p:nvPr/>
        </p:nvSpPr>
        <p:spPr>
          <a:xfrm>
            <a:off x="4608576" y="2258568"/>
            <a:ext cx="3877056" cy="804672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10" name="Text 10"/>
          <p:cNvSpPr txBox="1"/>
          <p:nvPr/>
        </p:nvSpPr>
        <p:spPr>
          <a:xfrm>
            <a:off x="4754880" y="2331720"/>
            <a:ext cx="3602736" cy="640080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1500" b="0" i="0">
                <a:solidFill>
                  <a:srgbClr val="112642"/>
                </a:solidFill>
                <a:latin typeface="Aptos"/>
              </a:rPr>
              <a:t>I poligoni PID del run classificano le tracce centrali. PreAnalysis.C scrive h80 con particelle e metadati.</a:t>
            </a:r>
          </a:p>
        </p:txBody>
      </p:sp>
      <p:sp>
        <p:nvSpPr>
          <p:cNvPr id="11" name="Fill 11"/>
          <p:cNvSpPr/>
          <p:nvPr/>
        </p:nvSpPr>
        <p:spPr>
          <a:xfrm>
            <a:off x="667512" y="3255264"/>
            <a:ext cx="3374136" cy="950976"/>
          </a:xfrm>
          <a:prstGeom prst="round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2" name="Text 12"/>
          <p:cNvSpPr txBox="1"/>
          <p:nvPr/>
        </p:nvSpPr>
        <p:spPr>
          <a:xfrm>
            <a:off x="832104" y="3310128"/>
            <a:ext cx="3054096" cy="859536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1230" b="0" i="0">
                <a:solidFill>
                  <a:srgbClr val="FFFFFF"/>
                </a:solidFill>
                <a:latin typeface="Aptos"/>
              </a:rPr>
              <a:t>selected = frame.Filter(</a:t>
            </a:r>
          </a:p>
          <a:p>
            <a:pPr algn="l"/>
            <a:r>
              <a:rPr lang="it-IT" sz="1230" b="0" i="0">
                <a:solidFill>
                  <a:srgbClr val="FFFFFF"/>
                </a:solidFill>
                <a:latin typeface="Aptos"/>
              </a:rPr>
              <a:t>  "gammas.size() &gt; 1 &amp;&amp;"</a:t>
            </a:r>
          </a:p>
          <a:p>
            <a:pPr algn="l"/>
            <a:r>
              <a:rPr lang="it-IT" sz="1230" b="0" i="0">
                <a:solidFill>
                  <a:srgbClr val="FFFFFF"/>
                </a:solidFill>
                <a:latin typeface="Aptos"/>
              </a:rPr>
              <a:t>  " fcharged_theta.size() == 1")</a:t>
            </a:r>
          </a:p>
          <a:p>
            <a:pPr algn="l"/>
            <a:r>
              <a:rPr lang="it-IT" sz="1230" b="0" i="0">
                <a:solidFill>
                  <a:srgbClr val="FFFFFF"/>
                </a:solidFill>
                <a:latin typeface="Aptos"/>
              </a:rPr>
              <a:t>selected.Snapshot("h85", ...)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4123944" y="3438144"/>
            <a:ext cx="411480" cy="585216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it-IT" sz="2408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14" name="Fill 14"/>
          <p:cNvSpPr/>
          <p:nvPr/>
        </p:nvSpPr>
        <p:spPr>
          <a:xfrm>
            <a:off x="4608576" y="3255264"/>
            <a:ext cx="3877056" cy="950976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15" name="Text 15"/>
          <p:cNvSpPr txBox="1"/>
          <p:nvPr/>
        </p:nvSpPr>
        <p:spPr>
          <a:xfrm>
            <a:off x="4754880" y="3337560"/>
            <a:ext cx="3602736" cy="777240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1450" b="0" i="0">
                <a:solidFill>
                  <a:srgbClr val="112642"/>
                </a:solidFill>
                <a:latin typeface="Aptos"/>
              </a:rPr>
              <a:t>La preselezione richiede almeno 2 fotoni e una traccia carica in avanti. h85 conserva tutti i rami; i 4 fotoni si richiedono più avanti.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685800" y="4315968"/>
            <a:ext cx="7818120" cy="256032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400" b="0" i="0">
                <a:solidFill>
                  <a:srgbClr val="52657B"/>
                </a:solidFill>
                <a:latin typeface="Aptos"/>
              </a:rPr>
              <a:t>RunNumber, Polarization e Xstrip restano disponibili per ricostruzione e calibrazione.</a:t>
            </a:r>
          </a:p>
        </p:txBody>
      </p:sp>
      <p:sp>
        <p:nvSpPr>
          <p:cNvPr id="17" name="Fill 17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8" name="Fill 18"/>
          <p:cNvSpPr/>
          <p:nvPr/>
        </p:nvSpPr>
        <p:spPr>
          <a:xfrm>
            <a:off x="0" y="0"/>
            <a:ext cx="2032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9" name="Text 19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20" name="Fill 20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21" name="Fill 21"/>
          <p:cNvSpPr/>
          <p:nvPr/>
        </p:nvSpPr>
        <p:spPr>
          <a:xfrm>
            <a:off x="0" y="4882896"/>
            <a:ext cx="2032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22" name="Text 22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DATI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04/18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Ricostruzione dei candidati pηπ⁰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05_reconstruction/runtime/reco_core.py; core/event_logic.py; 00_common/physics/pairing.py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76656" y="950976"/>
            <a:ext cx="7827264" cy="53035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112642"/>
                </a:solidFill>
                <a:latin typeface="Aptos"/>
              </a:rPr>
              <a:t>Dagli eventi h85 ricostruiamo η → γγ e π⁰ → γγ. I percorsi standard e BDT usano lo stesso algoritmo: nel secondo, il classificatore seleziona gli eventi prima del pairing.</a:t>
            </a:r>
          </a:p>
        </p:txBody>
      </p:sp>
      <p:sp>
        <p:nvSpPr>
          <p:cNvPr id="5" name="Fill 5"/>
          <p:cNvSpPr/>
          <p:nvPr/>
        </p:nvSpPr>
        <p:spPr>
          <a:xfrm>
            <a:off x="667512" y="1618488"/>
            <a:ext cx="3657600" cy="704088"/>
          </a:xfrm>
          <a:prstGeom prst="round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6" name="Text 6"/>
          <p:cNvSpPr txBox="1"/>
          <p:nvPr/>
        </p:nvSpPr>
        <p:spPr>
          <a:xfrm>
            <a:off x="832104" y="1746504"/>
            <a:ext cx="3337560" cy="48463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270" b="0" i="0">
                <a:solidFill>
                  <a:srgbClr val="FFFFFF"/>
                </a:solidFill>
                <a:latin typeface="Aptos"/>
              </a:rPr>
              <a:t>if chain.gammas.size() &lt; 4: continue</a:t>
            </a:r>
          </a:p>
          <a:p>
            <a:pPr algn="l"/>
            <a:r>
              <a:rPr lang="it-IT" sz="1270" b="0" i="0">
                <a:solidFill>
                  <a:srgbClr val="FFFFFF"/>
                </a:solidFill>
                <a:latin typeface="Aptos"/>
              </a:rPr>
              <a:t>if chain.protons.size() != 1: continue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4389120" y="1682496"/>
            <a:ext cx="338328" cy="566928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2322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8" name="Fill 8"/>
          <p:cNvSpPr/>
          <p:nvPr/>
        </p:nvSpPr>
        <p:spPr>
          <a:xfrm>
            <a:off x="4773168" y="1618488"/>
            <a:ext cx="3694176" cy="704088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9" name="Text 9"/>
          <p:cNvSpPr txBox="1"/>
          <p:nvPr/>
        </p:nvSpPr>
        <p:spPr>
          <a:xfrm>
            <a:off x="4919472" y="1682496"/>
            <a:ext cx="3401568" cy="55778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440" b="0" i="0">
                <a:solidFill>
                  <a:srgbClr val="112642"/>
                </a:solidFill>
                <a:latin typeface="Aptos"/>
              </a:rPr>
              <a:t>Servono almeno quattro fotoni e un solo protone. Usiamo i primi quattro fotoni e conserviamo la molteplicità originale.</a:t>
            </a:r>
          </a:p>
        </p:txBody>
      </p:sp>
      <p:sp>
        <p:nvSpPr>
          <p:cNvPr id="10" name="Fill 10"/>
          <p:cNvSpPr/>
          <p:nvPr/>
        </p:nvSpPr>
        <p:spPr>
          <a:xfrm>
            <a:off x="667512" y="2459736"/>
            <a:ext cx="3657600" cy="914400"/>
          </a:xfrm>
          <a:prstGeom prst="round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1" name="Text 11"/>
          <p:cNvSpPr txBox="1"/>
          <p:nvPr/>
        </p:nvSpPr>
        <p:spPr>
          <a:xfrm>
            <a:off x="832104" y="2551176"/>
            <a:ext cx="3337560" cy="73152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240" b="0" i="0">
                <a:solidFill>
                  <a:srgbClr val="FFFFFF"/>
                </a:solidFill>
                <a:latin typeface="Aptos"/>
              </a:rPr>
              <a:t>pairing, chi2_value = pairing_fn(</a:t>
            </a:r>
          </a:p>
          <a:p>
            <a:pPr algn="l"/>
            <a:r>
              <a:rPr lang="it-IT" sz="1240" b="0" i="0">
                <a:solidFill>
                  <a:srgbClr val="FFFFFF"/>
                </a:solidFill>
                <a:latin typeface="Aptos"/>
              </a:rPr>
              <a:t>    event.photons, channel.hypothesis)</a:t>
            </a:r>
          </a:p>
          <a:p>
            <a:pPr algn="l"/>
            <a:r>
              <a:rPr lang="it-IT" sz="1240" b="0" i="0">
                <a:solidFill>
                  <a:srgbClr val="FFFFFF"/>
                </a:solidFill>
                <a:latin typeface="Aptos"/>
              </a:rPr>
              <a:t>if chi2_value &gt;= config.chi2_cut:</a:t>
            </a:r>
          </a:p>
          <a:p>
            <a:pPr algn="l"/>
            <a:r>
              <a:rPr lang="it-IT" sz="1240" b="0" i="0">
                <a:solidFill>
                  <a:srgbClr val="FFFFFF"/>
                </a:solidFill>
                <a:latin typeface="Aptos"/>
              </a:rPr>
              <a:t>    return RejectionReason.CHI_SQUARE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4389120" y="2624328"/>
            <a:ext cx="338328" cy="566928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2322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13" name="Fill 13"/>
          <p:cNvSpPr/>
          <p:nvPr/>
        </p:nvSpPr>
        <p:spPr>
          <a:xfrm>
            <a:off x="4773168" y="2459736"/>
            <a:ext cx="3694176" cy="914400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14" name="Text 14"/>
          <p:cNvSpPr txBox="1"/>
          <p:nvPr/>
        </p:nvSpPr>
        <p:spPr>
          <a:xfrm>
            <a:off x="4919472" y="2532888"/>
            <a:ext cx="3401568" cy="768096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420" b="0" i="0">
                <a:solidFill>
                  <a:srgbClr val="112642"/>
                </a:solidFill>
                <a:latin typeface="Aptos"/>
              </a:rPr>
              <a:t>Tre partizioni dei fotoni, con due assegnazioni ciascuna, danno sei ipotesi ηπ⁰. Scegliamo quella più vicina alle masse nominali: χ² &lt; 10.</a:t>
            </a:r>
          </a:p>
        </p:txBody>
      </p:sp>
      <p:sp>
        <p:nvSpPr>
          <p:cNvPr id="15" name="Fill 15"/>
          <p:cNvSpPr/>
          <p:nvPr/>
        </p:nvSpPr>
        <p:spPr>
          <a:xfrm>
            <a:off x="667512" y="3511296"/>
            <a:ext cx="3657600" cy="832104"/>
          </a:xfrm>
          <a:prstGeom prst="round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6" name="Text 16"/>
          <p:cNvSpPr txBox="1"/>
          <p:nvPr/>
        </p:nvSpPr>
        <p:spPr>
          <a:xfrm>
            <a:off x="832104" y="3648456"/>
            <a:ext cx="3337560" cy="54864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270" b="0" i="0">
                <a:solidFill>
                  <a:srgbClr val="FFFFFF"/>
                </a:solidFill>
                <a:latin typeface="Aptos"/>
              </a:rPr>
              <a:t>heavy = photons[0] + photons[1]</a:t>
            </a:r>
          </a:p>
          <a:p>
            <a:pPr algn="l"/>
            <a:r>
              <a:rPr lang="it-IT" sz="1270" b="0" i="0">
                <a:solidFill>
                  <a:srgbClr val="FFFFFF"/>
                </a:solidFill>
                <a:latin typeface="Aptos"/>
              </a:rPr>
              <a:t>light = photons[2] + photons[3]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4389120" y="3630168"/>
            <a:ext cx="338328" cy="566928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2322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18" name="Fill 18"/>
          <p:cNvSpPr/>
          <p:nvPr/>
        </p:nvSpPr>
        <p:spPr>
          <a:xfrm>
            <a:off x="4773168" y="3511296"/>
            <a:ext cx="3694176" cy="832104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19" name="Text 19"/>
          <p:cNvSpPr txBox="1"/>
          <p:nvPr/>
        </p:nvSpPr>
        <p:spPr>
          <a:xfrm>
            <a:off x="4919472" y="3584448"/>
            <a:ext cx="3401568" cy="68580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420" b="0" i="0">
                <a:solidFill>
                  <a:srgbClr val="112642"/>
                </a:solidFill>
                <a:latin typeface="Aptos"/>
              </a:rPr>
              <a:t>Sommiamo i quadrivettori per ottenere η e π⁰. Scartiamo energie incompatibili con il fascio; salviamo masse, χ² e dati del run.</a:t>
            </a:r>
          </a:p>
        </p:txBody>
      </p:sp>
      <p:sp>
        <p:nvSpPr>
          <p:cNvPr id="20" name="Fill 20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21" name="Fill 21"/>
          <p:cNvSpPr/>
          <p:nvPr/>
        </p:nvSpPr>
        <p:spPr>
          <a:xfrm>
            <a:off x="0" y="0"/>
            <a:ext cx="2540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22" name="Text 22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23" name="Fill 23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24" name="Fill 24"/>
          <p:cNvSpPr/>
          <p:nvPr/>
        </p:nvSpPr>
        <p:spPr>
          <a:xfrm>
            <a:off x="0" y="4882896"/>
            <a:ext cx="2540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25" name="Text 25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RICOSTRUZIONE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05/18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Simulazione Monte Carlo senza G3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wiki/03-monte-carlo-simulation.md; 03_mc_simulation/generators/smearing.h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85800" y="1097280"/>
            <a:ext cx="3657600" cy="338328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892" b="1" i="0">
                <a:solidFill>
                  <a:srgbClr val="0B5FA5"/>
                </a:solidFill>
                <a:latin typeface="Aptos"/>
              </a:rPr>
              <a:t>Generazione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85800" y="1481328"/>
            <a:ext cx="7735824" cy="658368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591" b="0" i="0">
                <a:solidFill>
                  <a:srgbClr val="112642"/>
                </a:solidFill>
                <a:latin typeface="Aptos"/>
              </a:rPr>
              <a:t>Generiamo eventi non pesati con ROOT TGenPhaseSpace. La soglia deriva dalle masse dei prodotti finali.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685800" y="2295144"/>
            <a:ext cx="3749040" cy="338328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892" b="1" i="0">
                <a:solidFill>
                  <a:srgbClr val="0B5FA5"/>
                </a:solidFill>
                <a:latin typeface="Aptos"/>
              </a:rPr>
              <a:t>Finestra energetica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85800" y="2688336"/>
            <a:ext cx="7726680" cy="685800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591" b="0" i="0">
                <a:solidFill>
                  <a:srgbClr val="112642"/>
                </a:solidFill>
                <a:latin typeface="Aptos"/>
              </a:rPr>
              <a:t>Il campione esteso arriva a 1,75 GeV. Per VIS produciamo un campione dedicato tra la soglia fisica, o 0,9313 GeV se più alta, e 1,10 GeV.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85800" y="3511296"/>
            <a:ext cx="4297680" cy="338328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892" b="1" i="0">
                <a:solidFill>
                  <a:srgbClr val="0B5FA5"/>
                </a:solidFill>
                <a:latin typeface="Aptos"/>
              </a:rPr>
              <a:t>Risposta strumentale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85800" y="3895344"/>
            <a:ext cx="7735824" cy="658368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505" b="0" i="0" dirty="0">
                <a:solidFill>
                  <a:srgbClr val="112642"/>
                </a:solidFill>
                <a:latin typeface="Aptos"/>
              </a:rPr>
              <a:t>Applichiamo lo </a:t>
            </a:r>
            <a:r>
              <a:rPr lang="it-IT" sz="1505" b="0" i="0" dirty="0" err="1">
                <a:solidFill>
                  <a:srgbClr val="112642"/>
                </a:solidFill>
                <a:latin typeface="Aptos"/>
              </a:rPr>
              <a:t>smearing</a:t>
            </a:r>
            <a:r>
              <a:rPr lang="it-IT" sz="1505" b="0" i="0" dirty="0">
                <a:solidFill>
                  <a:srgbClr val="112642"/>
                </a:solidFill>
                <a:latin typeface="Aptos"/>
              </a:rPr>
              <a:t> a fotoni, protone e </a:t>
            </a:r>
            <a:r>
              <a:rPr lang="it-IT" sz="1505" b="0" i="0" dirty="0" err="1">
                <a:solidFill>
                  <a:srgbClr val="112642"/>
                </a:solidFill>
                <a:latin typeface="Aptos"/>
              </a:rPr>
              <a:t>tagger</a:t>
            </a:r>
            <a:r>
              <a:rPr lang="it-IT" sz="1505" b="0" i="0" dirty="0">
                <a:solidFill>
                  <a:srgbClr val="112642"/>
                </a:solidFill>
                <a:latin typeface="Aptos"/>
              </a:rPr>
              <a:t> (FWHM 16 MeV), con un'accettanza semplificata. La simulazione non usa il vecchio G3.</a:t>
            </a:r>
          </a:p>
        </p:txBody>
      </p:sp>
      <p:sp>
        <p:nvSpPr>
          <p:cNvPr id="10" name="Fill 10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1" name="Fill 11"/>
          <p:cNvSpPr/>
          <p:nvPr/>
        </p:nvSpPr>
        <p:spPr>
          <a:xfrm>
            <a:off x="0" y="0"/>
            <a:ext cx="3048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2" name="Text 12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3" name="Fill 13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4" name="Fill 14"/>
          <p:cNvSpPr/>
          <p:nvPr/>
        </p:nvSpPr>
        <p:spPr>
          <a:xfrm>
            <a:off x="0" y="4882896"/>
            <a:ext cx="3048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5" name="Text 15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MONTE CARLO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06/18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Nove canali simulati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wiki/physics-channels.md; wiki/03-monte-carlo-simulation.md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85800" y="1060704"/>
            <a:ext cx="2286000" cy="31089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720" b="1" i="0">
                <a:solidFill>
                  <a:srgbClr val="0B5FA5"/>
                </a:solidFill>
                <a:latin typeface="Aptos"/>
              </a:rPr>
              <a:t>Segnale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85800" y="1417320"/>
            <a:ext cx="2377440" cy="43891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580" b="1" i="0">
                <a:solidFill>
                  <a:srgbClr val="112642"/>
                </a:solidFill>
                <a:latin typeface="Aptos"/>
              </a:rPr>
              <a:t>ηπ⁰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2999232" y="1060704"/>
            <a:ext cx="5120640" cy="31089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720" b="1" i="0">
                <a:solidFill>
                  <a:srgbClr val="0B5FA5"/>
                </a:solidFill>
                <a:latin typeface="Aptos"/>
              </a:rPr>
              <a:t>Canali di fondo storici e nuovi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2999232" y="1444752"/>
            <a:ext cx="5303520" cy="14904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720" b="0" i="0">
                <a:solidFill>
                  <a:srgbClr val="112642"/>
                </a:solidFill>
                <a:latin typeface="Aptos"/>
              </a:rPr>
              <a:t>π⁰π⁰    3π⁰    4π⁰</a:t>
            </a:r>
          </a:p>
          <a:p>
            <a:pPr algn="l"/>
            <a:r>
              <a:rPr lang="it-IT" sz="1720" b="0" i="0">
                <a:solidFill>
                  <a:srgbClr val="112642"/>
                </a:solidFill>
                <a:latin typeface="Aptos"/>
              </a:rPr>
              <a:t>η → 3π⁰    ηπ⁰ con η → 3π⁰</a:t>
            </a:r>
          </a:p>
          <a:p>
            <a:pPr algn="l"/>
            <a:r>
              <a:rPr lang="it-IT" sz="1720" b="0" i="0">
                <a:solidFill>
                  <a:srgbClr val="112642"/>
                </a:solidFill>
                <a:latin typeface="Aptos"/>
              </a:rPr>
              <a:t>η2π⁰    ωπ⁰    η′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85800" y="3072384"/>
            <a:ext cx="768096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978" b="1" i="0">
                <a:solidFill>
                  <a:srgbClr val="0B5FA5"/>
                </a:solidFill>
                <a:latin typeface="Aptos"/>
              </a:rPr>
              <a:t>VIS: 6/9 canali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85800" y="3502152"/>
            <a:ext cx="7772400" cy="43891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48" b="0" i="0">
                <a:solidFill>
                  <a:srgbClr val="112642"/>
                </a:solidFill>
                <a:latin typeface="Aptos"/>
              </a:rPr>
              <a:t>ηπ⁰, π⁰π⁰, 3π⁰, 4π⁰, η → 3π⁰, ηπ⁰ con η → 3π⁰.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685800" y="4078224"/>
            <a:ext cx="7772400" cy="45720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19" b="0" i="0">
                <a:solidFill>
                  <a:srgbClr val="52657B"/>
                </a:solidFill>
                <a:latin typeface="Aptos"/>
              </a:rPr>
              <a:t>Le soglie di η2π⁰, ωπ⁰ ed η′ superano 1,10 GeV. Questi canali restano nel catalogo UV, ma non nel campione VIS.</a:t>
            </a:r>
          </a:p>
        </p:txBody>
      </p:sp>
      <p:sp>
        <p:nvSpPr>
          <p:cNvPr id="11" name="Fill 11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2" name="Fill 12"/>
          <p:cNvSpPr/>
          <p:nvPr/>
        </p:nvSpPr>
        <p:spPr>
          <a:xfrm>
            <a:off x="0" y="0"/>
            <a:ext cx="3556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4" name="Fill 14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5" name="Fill 15"/>
          <p:cNvSpPr/>
          <p:nvPr/>
        </p:nvSpPr>
        <p:spPr>
          <a:xfrm>
            <a:off x="0" y="4882896"/>
            <a:ext cx="3556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6" name="Text 16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MONTE CARLO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07/18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Come funziona il BDT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wiki/04-bdt-training.md; artifacts/stage1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85800" y="1042416"/>
            <a:ext cx="2926080" cy="66751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4214" b="1" i="0">
                <a:solidFill>
                  <a:srgbClr val="0B5FA5"/>
                </a:solidFill>
                <a:latin typeface="Aptos"/>
              </a:rPr>
              <a:t>BDT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85800" y="1819656"/>
            <a:ext cx="3685032" cy="74980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634" b="0" i="0">
                <a:solidFill>
                  <a:srgbClr val="112642"/>
                </a:solidFill>
                <a:latin typeface="Aptos"/>
              </a:rPr>
              <a:t>Alleniamo XGBoost sul MC per distinguere il segnale dai canali di fondo.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685800" y="2688336"/>
            <a:ext cx="3730752" cy="10332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05" b="0" i="0">
                <a:solidFill>
                  <a:srgbClr val="112642"/>
                </a:solidFill>
                <a:latin typeface="Aptos"/>
              </a:rPr>
              <a:t>Il modello usa 26 variabili, tra cui masse γγ, massa mancante, energia e angoli. Le calcoliamo allo stesso modo anche sui dati.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85800" y="3767328"/>
            <a:ext cx="3703320" cy="73152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19" b="0" i="0">
                <a:solidFill>
                  <a:srgbClr val="52657B"/>
                </a:solidFill>
                <a:latin typeface="Aptos"/>
              </a:rPr>
              <a:t>Nel training bilanciamo le classi e rimescoliamo l'ordine dei fotoni, così il modello non impara scorciatoie spurie.</a:t>
            </a:r>
          </a:p>
        </p:txBody>
      </p:sp>
      <p:pic>
        <p:nvPicPr>
          <p:cNvPr id="8" name="score_uv.png" descr="score_uv.png"/>
          <p:cNvPicPr>
            <a:picLocks noChangeAspect="1" noGr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7136" y="1328166"/>
            <a:ext cx="3931920" cy="2948940"/>
          </a:xfrm>
          <a:prstGeom prst="rect">
            <a:avLst/>
          </a:prstGeom>
        </p:spPr>
      </p:pic>
      <p:sp>
        <p:nvSpPr>
          <p:cNvPr id="9" name="Fill 9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0" name="Fill 10"/>
          <p:cNvSpPr/>
          <p:nvPr/>
        </p:nvSpPr>
        <p:spPr>
          <a:xfrm>
            <a:off x="0" y="0"/>
            <a:ext cx="4064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1" name="Text 11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2" name="Fill 12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3" name="Fill 13"/>
          <p:cNvSpPr/>
          <p:nvPr/>
        </p:nvSpPr>
        <p:spPr>
          <a:xfrm>
            <a:off x="0" y="4882896"/>
            <a:ext cx="4064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4" name="Text 14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BDT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08/18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Dal MC ai dati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wiki/04-bdt-training.md; wiki/05-stage1-gate.md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13232" y="1078992"/>
            <a:ext cx="502920" cy="53949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354" b="1" i="0">
                <a:solidFill>
                  <a:srgbClr val="0B5FA5"/>
                </a:solidFill>
                <a:latin typeface="Aptos"/>
              </a:rPr>
              <a:t>1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1371600" y="1088136"/>
            <a:ext cx="676656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06" b="1" i="0">
                <a:solidFill>
                  <a:srgbClr val="112642"/>
                </a:solidFill>
                <a:latin typeface="Aptos"/>
              </a:rPr>
              <a:t>Spettro misurato e pesi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1371600" y="1453896"/>
            <a:ext cx="6793992" cy="33832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19" b="0" i="0">
                <a:solidFill>
                  <a:srgbClr val="112642"/>
                </a:solidFill>
                <a:latin typeface="Aptos"/>
              </a:rPr>
              <a:t>Pesiamo il MC con il flusso del tagger, la sezione d'urto e l'accettanza.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13232" y="1956816"/>
            <a:ext cx="502920" cy="53949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354" b="1" i="0">
                <a:solidFill>
                  <a:srgbClr val="0B5FA5"/>
                </a:solidFill>
                <a:latin typeface="Aptos"/>
              </a:rPr>
              <a:t>2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1371600" y="1965960"/>
            <a:ext cx="676656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06" b="1" i="0">
                <a:solidFill>
                  <a:srgbClr val="112642"/>
                </a:solidFill>
                <a:latin typeface="Aptos"/>
              </a:rPr>
              <a:t>Quattro fotoni osservati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1371600" y="2331720"/>
            <a:ext cx="6793992" cy="33832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19" b="0" i="0">
                <a:solidFill>
                  <a:srgbClr val="112642"/>
                </a:solidFill>
                <a:latin typeface="Aptos"/>
              </a:rPr>
              <a:t>Applichiamo a segnale e fondi la perdita di fotoni e il loro rimescolamento.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713232" y="2834640"/>
            <a:ext cx="502920" cy="53949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354" b="1" i="0">
                <a:solidFill>
                  <a:srgbClr val="0B5FA5"/>
                </a:solidFill>
                <a:latin typeface="Aptos"/>
              </a:rPr>
              <a:t>3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1371600" y="2843784"/>
            <a:ext cx="676656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06" b="1" i="0">
                <a:solidFill>
                  <a:srgbClr val="112642"/>
                </a:solidFill>
                <a:latin typeface="Aptos"/>
              </a:rPr>
              <a:t>Due modelli per UV e VIS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1371600" y="3209544"/>
            <a:ext cx="6793992" cy="33832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19" b="0" i="0">
                <a:solidFill>
                  <a:srgbClr val="112642"/>
                </a:solidFill>
                <a:latin typeface="Aptos"/>
              </a:rPr>
              <a:t>Per ogni regione salviamo insieme il modello, la soglia e la provenienza.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713232" y="3712464"/>
            <a:ext cx="502920" cy="53949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354" b="1" i="0">
                <a:solidFill>
                  <a:srgbClr val="0B5FA5"/>
                </a:solidFill>
                <a:latin typeface="Aptos"/>
              </a:rPr>
              <a:t>4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1371600" y="3721608"/>
            <a:ext cx="676656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06" b="1" i="0">
                <a:solidFill>
                  <a:srgbClr val="112642"/>
                </a:solidFill>
                <a:latin typeface="Aptos"/>
              </a:rPr>
              <a:t>Selezione dei dati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1371600" y="4087368"/>
            <a:ext cx="6793992" cy="33832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19" b="0" i="0">
                <a:solidFill>
                  <a:srgbClr val="112642"/>
                </a:solidFill>
                <a:latin typeface="Aptos"/>
              </a:rPr>
              <a:t>Dopo il filtro BDT, ricostruiamo gli eventi con la stessa ipotesi e lo stesso pairing χ².</a:t>
            </a:r>
          </a:p>
        </p:txBody>
      </p:sp>
      <p:sp>
        <p:nvSpPr>
          <p:cNvPr id="16" name="Fill 16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7" name="Fill 17"/>
          <p:cNvSpPr/>
          <p:nvPr/>
        </p:nvSpPr>
        <p:spPr>
          <a:xfrm>
            <a:off x="0" y="0"/>
            <a:ext cx="4572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8" name="Text 18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9" name="Fill 19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20" name="Fill 20"/>
          <p:cNvSpPr/>
          <p:nvPr/>
        </p:nvSpPr>
        <p:spPr>
          <a:xfrm>
            <a:off x="0" y="4882896"/>
            <a:ext cx="4572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21" name="Text 21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BDT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09/18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Risultati del BDT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results/test_data/uv|vis/bdt/artifacts/stage1/stage1_metrics.txt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68096" y="1033272"/>
            <a:ext cx="365760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92" b="1" i="0">
                <a:solidFill>
                  <a:srgbClr val="0B5FA5"/>
                </a:solidFill>
                <a:latin typeface="Aptos"/>
              </a:rPr>
              <a:t>UV  AUC 0,9975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690872" y="1033272"/>
            <a:ext cx="365760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92" b="1" i="0">
                <a:solidFill>
                  <a:srgbClr val="0B5FA5"/>
                </a:solidFill>
                <a:latin typeface="Aptos"/>
              </a:rPr>
              <a:t>VIS  AUC 0,9995</a:t>
            </a:r>
          </a:p>
        </p:txBody>
      </p:sp>
      <p:pic>
        <p:nvPicPr>
          <p:cNvPr id="6" name="roc_uv.png" descr="roc_uv.png"/>
          <p:cNvPicPr>
            <a:picLocks noChangeAspect="1" noGr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360" y="1435608"/>
            <a:ext cx="3316224" cy="2487168"/>
          </a:xfrm>
          <a:prstGeom prst="rect">
            <a:avLst/>
          </a:prstGeom>
        </p:spPr>
      </p:pic>
      <p:pic>
        <p:nvPicPr>
          <p:cNvPr id="7" name="roc_vis.png" descr="roc_vis.png"/>
          <p:cNvPicPr>
            <a:picLocks noChangeAspect="1" noGrp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6424" y="1435608"/>
            <a:ext cx="3316224" cy="2487168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740664" y="3931920"/>
            <a:ext cx="3767328" cy="29260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112642"/>
                </a:solidFill>
                <a:latin typeface="Aptos"/>
              </a:rPr>
              <a:t>F1 0,9842 · soglia 0,1233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4663440" y="3931920"/>
            <a:ext cx="3767328" cy="29260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112642"/>
                </a:solidFill>
                <a:latin typeface="Aptos"/>
              </a:rPr>
              <a:t>F1 0,9956 · soglia 0,0740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694944" y="4334256"/>
            <a:ext cx="7772400" cy="22860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50" b="0" i="0">
                <a:solidFill>
                  <a:srgbClr val="52657B"/>
                </a:solidFill>
                <a:latin typeface="Aptos"/>
              </a:rPr>
              <a:t>Queste metriche vengono dal MC di prova: l'AUC non indica la purezza del campione reale.</a:t>
            </a:r>
          </a:p>
        </p:txBody>
      </p:sp>
      <p:sp>
        <p:nvSpPr>
          <p:cNvPr id="11" name="Fill 11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2" name="Fill 12"/>
          <p:cNvSpPr/>
          <p:nvPr/>
        </p:nvSpPr>
        <p:spPr>
          <a:xfrm>
            <a:off x="0" y="0"/>
            <a:ext cx="5080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4" name="Fill 14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5" name="Fill 15"/>
          <p:cNvSpPr/>
          <p:nvPr/>
        </p:nvSpPr>
        <p:spPr>
          <a:xfrm>
            <a:off x="0" y="4882896"/>
            <a:ext cx="5080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6" name="Text 16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BDT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10/18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Calibrazione dei flussi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wiki/06-calibration.md; config/run_manifest.csv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94944" y="1060704"/>
            <a:ext cx="329184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978" b="1" i="0">
                <a:solidFill>
                  <a:srgbClr val="0B5FA5"/>
                </a:solidFill>
                <a:latin typeface="Aptos"/>
              </a:rPr>
              <a:t>Run manifest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94944" y="1453896"/>
            <a:ext cx="7543800" cy="41148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48" b="0" i="0">
                <a:solidFill>
                  <a:srgbClr val="112642"/>
                </a:solidFill>
                <a:latin typeface="Aptos"/>
              </a:rPr>
              <a:t>Il manifest assegna a ogni run il target, la regione UV o VIS e lo stato di polarizzazione.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694944" y="2002536"/>
            <a:ext cx="384048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978" b="1" i="0">
                <a:solidFill>
                  <a:srgbClr val="0B5FA5"/>
                </a:solidFill>
                <a:latin typeface="Aptos"/>
              </a:rPr>
              <a:t>h80 + flux ROOT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94944" y="2395728"/>
            <a:ext cx="7543800" cy="43891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48" b="0" i="0">
                <a:solidFill>
                  <a:srgbClr val="112642"/>
                </a:solidFill>
                <a:latin typeface="Aptos"/>
              </a:rPr>
              <a:t>Calibriamo l'energia delle strip 1–128 con la mediana misurata per run e polarizzazione.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94944" y="2971800"/>
            <a:ext cx="630936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978" b="1" i="0">
                <a:solidFill>
                  <a:srgbClr val="0B5FA5"/>
                </a:solidFill>
                <a:latin typeface="Aptos"/>
              </a:rPr>
              <a:t>POL1 · POL2 · BREM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94944" y="3364992"/>
            <a:ext cx="7543800" cy="41148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48" b="0" i="0">
                <a:solidFill>
                  <a:srgbClr val="112642"/>
                </a:solidFill>
                <a:latin typeface="Aptos"/>
              </a:rPr>
              <a:t>Per usare un run servono tutti e tre i flussi. Se ne manca uno, escludiamo il run.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694944" y="3968496"/>
            <a:ext cx="5486400" cy="38404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150" b="1" i="0">
                <a:solidFill>
                  <a:srgbClr val="0B5FA5"/>
                </a:solidFill>
                <a:latin typeface="Aptos"/>
              </a:rPr>
              <a:t>flux_calibrated.root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94944" y="4343400"/>
            <a:ext cx="7498080" cy="2468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52657B"/>
                </a:solidFill>
                <a:latin typeface="Aptos"/>
              </a:rPr>
              <a:t>Il file finale conserva gli assi energetici calibrati e viene scritto in modo atomico.</a:t>
            </a:r>
          </a:p>
        </p:txBody>
      </p:sp>
      <p:sp>
        <p:nvSpPr>
          <p:cNvPr id="12" name="Fill 12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3" name="Fill 13"/>
          <p:cNvSpPr/>
          <p:nvPr/>
        </p:nvSpPr>
        <p:spPr>
          <a:xfrm>
            <a:off x="0" y="0"/>
            <a:ext cx="5588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4" name="Text 14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5" name="Fill 15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6" name="Fill 16"/>
          <p:cNvSpPr/>
          <p:nvPr/>
        </p:nvSpPr>
        <p:spPr>
          <a:xfrm>
            <a:off x="0" y="4882896"/>
            <a:ext cx="5588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7" name="Text 17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CALIBRAZIONE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11/18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Estrazione dell'asimmetria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wiki/07-beam-asymmetry-estimators.md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85800" y="1024128"/>
            <a:ext cx="1097280" cy="78638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5160" b="1" i="0">
                <a:solidFill>
                  <a:srgbClr val="0B5FA5"/>
                </a:solidFill>
                <a:latin typeface="Aptos"/>
              </a:rPr>
              <a:t>Σ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1737360" y="1124712"/>
            <a:ext cx="6629400" cy="8046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92" b="0" i="0">
                <a:solidFill>
                  <a:srgbClr val="112642"/>
                </a:solidFill>
                <a:latin typeface="Aptos"/>
              </a:rPr>
              <a:t>Con un fascio polarizzato linearmente, Σ descrive la modulazione azimutale.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704088" y="2139696"/>
            <a:ext cx="777240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322" b="1" i="0">
                <a:solidFill>
                  <a:srgbClr val="0B5FA5"/>
                </a:solidFill>
                <a:latin typeface="Aptos"/>
              </a:rPr>
              <a:t>R(φ) = (yV − yH) / (PH yV + PV yH)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22376" y="2679192"/>
            <a:ext cx="758952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06" b="0" i="0">
                <a:solidFill>
                  <a:srgbClr val="112642"/>
                </a:solidFill>
                <a:latin typeface="Aptos"/>
              </a:rPr>
              <a:t>yV = NV / FV       yH = NH / FH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713232" y="3282696"/>
            <a:ext cx="7818120" cy="42062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720" b="0" i="0">
                <a:solidFill>
                  <a:srgbClr val="112642"/>
                </a:solidFill>
                <a:latin typeface="Aptos"/>
              </a:rPr>
              <a:t>Ricaviamo Σ dalla componente cos(2φ) di R(φ).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713232" y="3776472"/>
            <a:ext cx="7818120" cy="42062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05" b="0" i="0">
                <a:solidFill>
                  <a:srgbClr val="112642"/>
                </a:solidFill>
                <a:latin typeface="Aptos"/>
              </a:rPr>
              <a:t>Controlliamo il risultato con una likelihood condizionale e usiamo flussi e polarizzazioni specifici di run e strip.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713232" y="4279392"/>
            <a:ext cx="7818120" cy="25603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33" b="0" i="0">
                <a:solidFill>
                  <a:srgbClr val="52657B"/>
                </a:solidFill>
                <a:latin typeface="Aptos"/>
              </a:rPr>
              <a:t>L'analisi usa 12 intervalli in φ e 10 in massa per ciascuno dei tre sottosistemi.</a:t>
            </a:r>
          </a:p>
        </p:txBody>
      </p:sp>
      <p:sp>
        <p:nvSpPr>
          <p:cNvPr id="11" name="Fill 11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2" name="Fill 12"/>
          <p:cNvSpPr/>
          <p:nvPr/>
        </p:nvSpPr>
        <p:spPr>
          <a:xfrm>
            <a:off x="0" y="0"/>
            <a:ext cx="6096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4" name="Fill 14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5" name="Fill 15"/>
          <p:cNvSpPr/>
          <p:nvPr/>
        </p:nvSpPr>
        <p:spPr>
          <a:xfrm>
            <a:off x="0" y="4882896"/>
            <a:ext cx="6096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6" name="Text 16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ASIMMETRIE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12/18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Prime asimmetrie UV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results/test_data/combined/figure4_experimental.pdf; run locale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13232" y="1005840"/>
            <a:ext cx="7726680" cy="3474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634" b="1" i="0">
                <a:solidFill>
                  <a:srgbClr val="0B5FA5"/>
                </a:solidFill>
                <a:latin typeface="Aptos"/>
              </a:rPr>
              <a:t>1,30–1,40 GeV · pπ⁰, pη, ηπ⁰</a:t>
            </a:r>
          </a:p>
        </p:txBody>
      </p:sp>
      <p:pic>
        <p:nvPicPr>
          <p:cNvPr id="5" name="sigma_uv.png" descr="sigma_uv.png"/>
          <p:cNvPicPr>
            <a:picLocks noChangeAspect="1" noGr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1529116"/>
            <a:ext cx="8211312" cy="2208711"/>
          </a:xfrm>
          <a:prstGeom prst="rect">
            <a:avLst/>
          </a:prstGeom>
        </p:spPr>
      </p:pic>
      <p:sp>
        <p:nvSpPr>
          <p:cNvPr id="6" name="Text 6"/>
          <p:cNvSpPr txBox="1"/>
          <p:nvPr/>
        </p:nvSpPr>
        <p:spPr>
          <a:xfrm>
            <a:off x="713232" y="4050792"/>
            <a:ext cx="7726680" cy="48463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62" b="0" i="0">
                <a:solidFill>
                  <a:srgbClr val="112642"/>
                </a:solidFill>
                <a:latin typeface="Aptos"/>
              </a:rPr>
              <a:t>Nel sottosistema pη osserviamo valori negativi in diversi intervalli di massa. La figura mostra solo gli errori statistici.</a:t>
            </a:r>
          </a:p>
        </p:txBody>
      </p:sp>
      <p:sp>
        <p:nvSpPr>
          <p:cNvPr id="7" name="Fill 7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8" name="Fill 8"/>
          <p:cNvSpPr/>
          <p:nvPr/>
        </p:nvSpPr>
        <p:spPr>
          <a:xfrm>
            <a:off x="0" y="0"/>
            <a:ext cx="6604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9" name="Text 9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0" name="Fill 10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1" name="Fill 11"/>
          <p:cNvSpPr/>
          <p:nvPr/>
        </p:nvSpPr>
        <p:spPr>
          <a:xfrm>
            <a:off x="0" y="4882896"/>
            <a:ext cx="6604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2" name="Text 12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RISULTATI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13/18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Confronto con Ajaka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Ajaka et al. (2008); digitizzazione versionata; run locale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04088" y="996696"/>
            <a:ext cx="7772400" cy="3474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48" b="1" i="0">
                <a:solidFill>
                  <a:srgbClr val="0B5FA5"/>
                </a:solidFill>
                <a:latin typeface="Aptos"/>
              </a:rPr>
              <a:t>Tra 1,40 e 1,50 GeV: questa analisi in nero, Ajaka et al. in rosso</a:t>
            </a:r>
          </a:p>
        </p:txBody>
      </p:sp>
      <p:pic>
        <p:nvPicPr>
          <p:cNvPr id="5" name="ajaka_uv.png" descr="ajaka_uv.png"/>
          <p:cNvPicPr>
            <a:picLocks noChangeAspect="1" noGr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1486858"/>
            <a:ext cx="8211312" cy="2265795"/>
          </a:xfrm>
          <a:prstGeom prst="rect">
            <a:avLst/>
          </a:prstGeom>
        </p:spPr>
      </p:pic>
      <p:sp>
        <p:nvSpPr>
          <p:cNvPr id="6" name="Text 6"/>
          <p:cNvSpPr txBox="1"/>
          <p:nvPr/>
        </p:nvSpPr>
        <p:spPr>
          <a:xfrm>
            <a:off x="704088" y="4041648"/>
            <a:ext cx="7754112" cy="49377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19" b="0" i="0">
                <a:solidFill>
                  <a:srgbClr val="112642"/>
                </a:solidFill>
                <a:latin typeface="Aptos"/>
              </a:rPr>
              <a:t>L'accordo cambia con la massa e con il sottosistema. Servono ancora controlli sistematici prima di trarre conclusioni quantitative.</a:t>
            </a:r>
          </a:p>
        </p:txBody>
      </p:sp>
      <p:sp>
        <p:nvSpPr>
          <p:cNvPr id="7" name="Fill 7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8" name="Fill 8"/>
          <p:cNvSpPr/>
          <p:nvPr/>
        </p:nvSpPr>
        <p:spPr>
          <a:xfrm>
            <a:off x="0" y="0"/>
            <a:ext cx="7112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9" name="Text 9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0" name="Fill 10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1" name="Fill 11"/>
          <p:cNvSpPr/>
          <p:nvPr/>
        </p:nvSpPr>
        <p:spPr>
          <a:xfrm>
            <a:off x="0" y="4882896"/>
            <a:ext cx="7112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2" name="Text 12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RISULTATI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14/18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VIS vicino alla soglia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results/test_data/combined/figure4_experimental.pdf; run locale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13232" y="987552"/>
            <a:ext cx="7772400" cy="43891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720" b="1" i="0">
                <a:solidFill>
                  <a:srgbClr val="0B5FA5"/>
                </a:solidFill>
                <a:latin typeface="Aptos"/>
              </a:rPr>
              <a:t>Abbiamo esteso la figura combinata alla regione 0,9313–1,10 GeV</a:t>
            </a:r>
          </a:p>
        </p:txBody>
      </p:sp>
      <p:pic>
        <p:nvPicPr>
          <p:cNvPr id="5" name="sigma_vis.png" descr="sigma_vis.png"/>
          <p:cNvPicPr>
            <a:picLocks noChangeAspect="1" noGr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1570264"/>
            <a:ext cx="8211312" cy="2208711"/>
          </a:xfrm>
          <a:prstGeom prst="rect">
            <a:avLst/>
          </a:prstGeom>
        </p:spPr>
      </p:pic>
      <p:sp>
        <p:nvSpPr>
          <p:cNvPr id="6" name="Text 6"/>
          <p:cNvSpPr txBox="1"/>
          <p:nvPr/>
        </p:nvSpPr>
        <p:spPr>
          <a:xfrm>
            <a:off x="713232" y="4069080"/>
            <a:ext cx="7726680" cy="46634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19" b="0" i="0">
                <a:solidFill>
                  <a:srgbClr val="112642"/>
                </a:solidFill>
                <a:latin typeface="Aptos"/>
              </a:rPr>
              <a:t>Nel campione VIS, Σ tende a valori negativi per pη e diventa positiva in alcuni intervalli di ηπ⁰. Il risultato è preliminare.</a:t>
            </a:r>
          </a:p>
        </p:txBody>
      </p:sp>
      <p:sp>
        <p:nvSpPr>
          <p:cNvPr id="7" name="Fill 7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8" name="Fill 8"/>
          <p:cNvSpPr/>
          <p:nvPr/>
        </p:nvSpPr>
        <p:spPr>
          <a:xfrm>
            <a:off x="0" y="0"/>
            <a:ext cx="7620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9" name="Text 9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0" name="Fill 10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1" name="Fill 11"/>
          <p:cNvSpPr/>
          <p:nvPr/>
        </p:nvSpPr>
        <p:spPr>
          <a:xfrm>
            <a:off x="0" y="4882896"/>
            <a:ext cx="7620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2" name="Text 12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RISULTATI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15/18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Perché il VIS è interessante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wiki/compton-beam-and-polarization.md; ipotesi da verificare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94944" y="1069848"/>
            <a:ext cx="3977640" cy="39319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978" b="1" i="0">
                <a:solidFill>
                  <a:srgbClr val="0B5FA5"/>
                </a:solidFill>
                <a:latin typeface="Aptos"/>
              </a:rPr>
              <a:t>VIS: polarizzazione alta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94944" y="1517904"/>
            <a:ext cx="3813048" cy="96012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05" b="0" i="0">
                <a:solidFill>
                  <a:srgbClr val="112642"/>
                </a:solidFill>
                <a:latin typeface="Aptos"/>
              </a:rPr>
              <a:t>Con il laser a 514 nm, la polarizzazione si avvicina al 100% al bordo Compton. Nella regione VIS dipende dall'energia del fotone.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694944" y="2734056"/>
            <a:ext cx="3749040" cy="3474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92" b="1" i="0">
                <a:solidFill>
                  <a:srgbClr val="0B5FA5"/>
                </a:solidFill>
                <a:latin typeface="Aptos"/>
              </a:rPr>
              <a:t>Ipotesi fisica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94944" y="3118104"/>
            <a:ext cx="3822192" cy="96926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05" b="0" i="0">
                <a:solidFill>
                  <a:srgbClr val="112642"/>
                </a:solidFill>
                <a:latin typeface="Aptos"/>
              </a:rPr>
              <a:t>Anche vicino alla soglia, le code di risonanze ampie e intense possono interferire tra loro e produrre un'asimmetria che varia con la massa.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94944" y="4187952"/>
            <a:ext cx="3813048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33" b="0" i="0">
                <a:solidFill>
                  <a:srgbClr val="52657B"/>
                </a:solidFill>
                <a:latin typeface="Aptos"/>
              </a:rPr>
              <a:t>Stiamo verificando questa interpretazione con i modelli teorici.</a:t>
            </a:r>
          </a:p>
        </p:txBody>
      </p:sp>
      <p:pic>
        <p:nvPicPr>
          <p:cNvPr id="9" name="polarization.png" descr="polarization.png"/>
          <p:cNvPicPr>
            <a:picLocks noChangeAspect="1" noGr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365044"/>
            <a:ext cx="3849624" cy="2884328"/>
          </a:xfrm>
          <a:prstGeom prst="rect">
            <a:avLst/>
          </a:prstGeom>
        </p:spPr>
      </p:pic>
      <p:sp>
        <p:nvSpPr>
          <p:cNvPr id="10" name="Fill 10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1" name="Fill 11"/>
          <p:cNvSpPr/>
          <p:nvPr/>
        </p:nvSpPr>
        <p:spPr>
          <a:xfrm>
            <a:off x="0" y="0"/>
            <a:ext cx="8128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2" name="Text 12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3" name="Fill 13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4" name="Fill 14"/>
          <p:cNvSpPr/>
          <p:nvPr/>
        </p:nvSpPr>
        <p:spPr>
          <a:xfrm>
            <a:off x="0" y="4882896"/>
            <a:ext cx="8128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5" name="Text 15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INTERPRETAZIONE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16/18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Verifiche ancora aperte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wiki/known-limitations.md; direttive del progetto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04088" y="1069848"/>
            <a:ext cx="731520" cy="42976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494" b="1" i="0">
                <a:solidFill>
                  <a:srgbClr val="0B5FA5"/>
                </a:solidFill>
                <a:latin typeface="Aptos"/>
              </a:rPr>
              <a:t>01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1417320" y="1088136"/>
            <a:ext cx="690372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677" b="1" i="0">
                <a:solidFill>
                  <a:srgbClr val="112642"/>
                </a:solidFill>
                <a:latin typeface="Aptos"/>
              </a:rPr>
              <a:t>Codici storici: mergedateu e wnorm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1417320" y="1444752"/>
            <a:ext cx="6903720" cy="30175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112642"/>
                </a:solidFill>
                <a:latin typeface="Aptos"/>
              </a:rPr>
              <a:t>Confronteremo flussi calibrati e Σ per ogni run e intervallo di energia.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04088" y="1947672"/>
            <a:ext cx="731520" cy="42976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494" b="1" i="0">
                <a:solidFill>
                  <a:srgbClr val="0B5FA5"/>
                </a:solidFill>
                <a:latin typeface="Aptos"/>
              </a:rPr>
              <a:t>02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1417320" y="1965960"/>
            <a:ext cx="690372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677" b="1" i="0">
                <a:solidFill>
                  <a:srgbClr val="112642"/>
                </a:solidFill>
                <a:latin typeface="Aptos"/>
              </a:rPr>
              <a:t>Asimmetria del fondo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1417320" y="2322576"/>
            <a:ext cx="6903720" cy="30175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112642"/>
                </a:solidFill>
                <a:latin typeface="Aptos"/>
              </a:rPr>
              <a:t>Misureremo la modulazione nelle sideband di massa per controllare il fondo.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704088" y="2825496"/>
            <a:ext cx="731520" cy="42976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494" b="1" i="0">
                <a:solidFill>
                  <a:srgbClr val="0B5FA5"/>
                </a:solidFill>
                <a:latin typeface="Aptos"/>
              </a:rPr>
              <a:t>03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1417320" y="2843784"/>
            <a:ext cx="690372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677" b="1" i="0">
                <a:solidFill>
                  <a:srgbClr val="112642"/>
                </a:solidFill>
                <a:latin typeface="Aptos"/>
              </a:rPr>
              <a:t>MC con Σ piatta iniettata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1417320" y="3200400"/>
            <a:ext cx="6903720" cy="30175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112642"/>
                </a:solidFill>
                <a:latin typeface="Aptos"/>
              </a:rPr>
              <a:t>Rieseguiremo l'analisi sul MC per verificare che recuperi l'asimmetria iniettata.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704088" y="3703320"/>
            <a:ext cx="731520" cy="42976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494" b="1" i="0">
                <a:solidFill>
                  <a:srgbClr val="0B5FA5"/>
                </a:solidFill>
                <a:latin typeface="Aptos"/>
              </a:rPr>
              <a:t>04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1417320" y="3721608"/>
            <a:ext cx="690372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677" b="1" i="0">
                <a:solidFill>
                  <a:srgbClr val="112642"/>
                </a:solidFill>
                <a:latin typeface="Aptos"/>
              </a:rPr>
              <a:t>Sistematiche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1417320" y="4078224"/>
            <a:ext cx="6903720" cy="38404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112642"/>
                </a:solidFill>
                <a:latin typeface="Aptos"/>
              </a:rPr>
              <a:t>Studieremo l'effetto di flussi, polarizzazione, soglia BDT ed estimatore sul risultato finale.</a:t>
            </a:r>
          </a:p>
        </p:txBody>
      </p:sp>
      <p:sp>
        <p:nvSpPr>
          <p:cNvPr id="16" name="Fill 16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7" name="Fill 17"/>
          <p:cNvSpPr/>
          <p:nvPr/>
        </p:nvSpPr>
        <p:spPr>
          <a:xfrm>
            <a:off x="0" y="0"/>
            <a:ext cx="8636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8" name="Text 18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9" name="Fill 19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20" name="Fill 20"/>
          <p:cNvSpPr/>
          <p:nvPr/>
        </p:nvSpPr>
        <p:spPr>
          <a:xfrm>
            <a:off x="0" y="4882896"/>
            <a:ext cx="8636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21" name="Text 21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VERIFICHE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17/18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1E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03504" y="365760"/>
            <a:ext cx="8046720" cy="50292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838" b="1" i="0">
                <a:solidFill>
                  <a:srgbClr val="FFFFFF"/>
                </a:solidFill>
                <a:latin typeface="Aptos"/>
              </a:rPr>
              <a:t>Prossimi passi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685800" y="1161288"/>
            <a:ext cx="374904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92" b="1" i="0">
                <a:solidFill>
                  <a:srgbClr val="DDEFFA"/>
                </a:solidFill>
                <a:latin typeface="Aptos"/>
              </a:rPr>
              <a:t>Sezioni d'urto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85800" y="1572768"/>
            <a:ext cx="374904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48" b="0" i="0">
                <a:solidFill>
                  <a:srgbClr val="FFFFFF"/>
                </a:solidFill>
                <a:latin typeface="Aptos"/>
              </a:rPr>
              <a:t>Misureremo sia le sezioni differenziali sia quelle totali.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99432" y="1161288"/>
            <a:ext cx="374904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92" b="1" i="0">
                <a:solidFill>
                  <a:srgbClr val="DDEFFA"/>
                </a:solidFill>
                <a:latin typeface="Aptos"/>
              </a:rPr>
              <a:t>Primo articolo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4599432" y="1572768"/>
            <a:ext cx="3749040" cy="8046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48" b="0" i="0">
                <a:solidFill>
                  <a:srgbClr val="FFFFFF"/>
                </a:solidFill>
                <a:latin typeface="Aptos"/>
              </a:rPr>
              <a:t>Prepareremo un articolo sul framework e sui risultati originali, valutando una rivista di fisica.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85800" y="2606040"/>
            <a:ext cx="374904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92" b="1" i="0">
                <a:solidFill>
                  <a:srgbClr val="DDEFFA"/>
                </a:solidFill>
                <a:latin typeface="Aptos"/>
              </a:rPr>
              <a:t>Nuovi canali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85800" y="3017520"/>
            <a:ext cx="3749040" cy="68580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48" b="0" i="0">
                <a:solidFill>
                  <a:srgbClr val="FFFFFF"/>
                </a:solidFill>
                <a:latin typeface="Aptos"/>
              </a:rPr>
              <a:t>Applicheremo la stessa catena a canali che non erano stati studiati in passato.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4599432" y="2606040"/>
            <a:ext cx="374904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92" b="1" i="0">
                <a:solidFill>
                  <a:srgbClr val="DDEFFA"/>
                </a:solidFill>
                <a:latin typeface="Aptos"/>
              </a:rPr>
              <a:t>Dalitz e teoria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4599432" y="3017520"/>
            <a:ext cx="3749040" cy="8229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48" b="0" i="0">
                <a:solidFill>
                  <a:srgbClr val="FFFFFF"/>
                </a:solidFill>
                <a:latin typeface="Aptos"/>
              </a:rPr>
              <a:t>Studieremo i Dalitz plot e proseguiremo il confronto con i modelli teorici.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85800" y="4261104"/>
            <a:ext cx="7772400" cy="39319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DDEFFA"/>
                </a:solidFill>
                <a:latin typeface="Aptos"/>
              </a:rPr>
              <a:t>Completeremo i controlli sulle sideband e sul MC con asimmetria piatta prima della pubblicazione.</a:t>
            </a:r>
          </a:p>
        </p:txBody>
      </p:sp>
      <p:sp>
        <p:nvSpPr>
          <p:cNvPr id="12" name="Fill 12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3" name="Fill 13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4" name="Text 14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5" name="Fill 15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6" name="Fill 16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7" name="Text 17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PROSPETTIVE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18/18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2026-10-06T13:48:01Z</dcterms:created>
  <dcterms:modified xsi:type="dcterms:W3CDTF">2026-10-06T13:48:01Z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