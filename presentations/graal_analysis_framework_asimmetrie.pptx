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png" ContentType="image/pn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1_roc_uv.png"/><Relationship Id="rId3" Type="http://schemas.openxmlformats.org/officeDocument/2006/relationships/image" Target="../media/graal_slide11_roc_vis.pn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ajaka_uv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sigma_vis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7_polarization.png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58368"/>
            <a:ext cx="7772400" cy="5943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12648" y="1444752"/>
            <a:ext cx="786384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00" b="0" i="0">
                <a:solidFill>
                  <a:srgbClr val="DDEFFA"/>
                </a:solidFill>
                <a:latin typeface="Aptos"/>
              </a:rPr>
              <a:t>Framework per 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2039112"/>
            <a:ext cx="7680960" cy="6400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FFFFFF"/>
                </a:solidFill>
                <a:latin typeface="Aptos"/>
              </a:rPr>
              <a:t>Dalla preselezione dei dati alle asimmetrie del fascio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12648" y="4270248"/>
            <a:ext cx="786384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Campagna locale UV/VIS · 6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La domanda fisica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Ajaka et al.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76656" y="1170432"/>
            <a:ext cx="7772400" cy="5852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000" b="1" i="0">
                <a:solidFill>
                  <a:srgbClr val="0B5FA5"/>
                </a:solidFill>
                <a:latin typeface="Aptos"/>
              </a:rPr>
              <a:t>γ p  →  p η 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1847088"/>
            <a:ext cx="70408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112642"/>
                </a:solidFill>
                <a:latin typeface="Aptos"/>
              </a:rPr>
              <a:t>η → γγ     π⁰ → γγ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2560320"/>
            <a:ext cx="7589520" cy="9144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Misura: asimmetria del fascio Σ nelle tre masse invarianti</a:t>
            </a:r>
          </a:p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pπ⁰, pη ed ηπ⁰.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04088" y="3886200"/>
            <a:ext cx="7635240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52657B"/>
                </a:solidFill>
                <a:latin typeface="Aptos"/>
              </a:rPr>
              <a:t>Benchmark sperimentale: punti pubblicati da Ajaka et al. (2008).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Dal Fortran ai file ROOT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wiki/01-pre-analysis.md; 01_pre_analysis/PreAnalysis.C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03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18872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664208" y="1243584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Eredità Fortran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664208" y="1627632"/>
            <a:ext cx="676656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Tree grezzo h70 e convenzioni storiche, incluso indice Fortran da 1.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242316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664208" y="2468880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Pre-analisi C++/ROOT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664208" y="2852928"/>
            <a:ext cx="676656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PreAnalysis.C costruisce beam, candidati particella e metadati per run.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58368" y="365760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664208" y="3703320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Output normalizzato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664208" y="4087368"/>
            <a:ext cx="676656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Un file ROOT h80 per periodo, pronto per preselezione e calibrazione.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Preselezione dei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wiki/02-event-selection.md;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04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225296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400" b="1" i="0">
                <a:solidFill>
                  <a:srgbClr val="0B5FA5"/>
                </a:solidFill>
                <a:latin typeface="Aptos"/>
              </a:rPr>
              <a:t>h80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309360" y="1225296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4400" b="1" i="0">
                <a:solidFill>
                  <a:srgbClr val="0B5FA5"/>
                </a:solidFill>
                <a:latin typeface="Aptos"/>
              </a:rPr>
              <a:t>h85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2075688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Filtro topologico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2514600"/>
            <a:ext cx="7589520" cy="5486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Più di un fotone centrale e un solo track carico in avanti.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429000"/>
            <a:ext cx="7680960" cy="9144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52657B"/>
                </a:solidFill>
                <a:latin typeface="Aptos"/>
              </a:rPr>
              <a:t>Run, polarizzazione e strip del tagger restano nei dati selezionati.</a:t>
            </a:r>
          </a:p>
          <a:p>
            <a:pPr algn="l"/>
            <a:r>
              <a:rPr lang="it-IT" sz="1800" b="0" i="0">
                <a:solidFill>
                  <a:srgbClr val="52657B"/>
                </a:solidFill>
                <a:latin typeface="Aptos"/>
              </a:rPr>
              <a:t>Ipotesi pηπ⁰, accoppiamento dei fotoni e fit arrivano dopo.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365760"/>
            <a:ext cx="804672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FFFFFF"/>
                </a:solidFill>
                <a:latin typeface="Aptos"/>
              </a:rPr>
              <a:t>Un framework di 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88720"/>
            <a:ext cx="7406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FFFFFF"/>
                </a:solidFill>
                <a:latin typeface="Aptos"/>
              </a:rPr>
              <a:t>01  Dati ROOT e preselezione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901952"/>
            <a:ext cx="7406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FFFFFF"/>
                </a:solidFill>
                <a:latin typeface="Aptos"/>
              </a:rPr>
              <a:t>02  MC e 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2615184"/>
            <a:ext cx="7406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FFFFFF"/>
                </a:solidFill>
                <a:latin typeface="Aptos"/>
              </a:rPr>
              <a:t>03  Ricostruzione e calibrazione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3328416"/>
            <a:ext cx="7406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FFFFFF"/>
                </a:solidFill>
                <a:latin typeface="Aptos"/>
              </a:rPr>
              <a:t>04  Estrazione di Σ e controlli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4224528"/>
            <a:ext cx="77724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DDEFFA"/>
                </a:solidFill>
                <a:latin typeface="Aptos"/>
              </a:rPr>
              <a:t>Contratti di file e ipotesi condivise rendono il flusso riutilizzabile.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302752" y="4818888"/>
            <a:ext cx="274320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DDEFFA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Ricostruzione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188720"/>
            <a:ext cx="3520440" cy="3291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Percorso standard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1600200"/>
            <a:ext cx="3611880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Accoppiamento dei 4 fotoni con χ² sulle masse η e π⁰.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572000" y="1188720"/>
            <a:ext cx="3794760" cy="3291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Percorso con BDT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572000" y="1600200"/>
            <a:ext cx="3794760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Filtro di fondo a monte; stessa ricostruzione dopo il gate.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2999232"/>
            <a:ext cx="1645920" cy="6400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600" b="1" i="0">
                <a:solidFill>
                  <a:srgbClr val="0B5FA5"/>
                </a:solidFill>
                <a:latin typeface="Aptos"/>
              </a:rPr>
              <a:t>6C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240280" y="3099816"/>
            <a:ext cx="6108192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Fit cinematico vincolato come controllo della qualità del candidato.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169664"/>
            <a:ext cx="7680960" cy="3291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52657B"/>
                </a:solidFill>
                <a:latin typeface="Aptos"/>
              </a:rPr>
              <a:t>Differenza tra campioni: solo filtro BDT, non logica di pairing o fit.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Nuovo MC senza vecchio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07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216152"/>
            <a:ext cx="786384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00" b="1" i="0">
                <a:solidFill>
                  <a:srgbClr val="0B5FA5"/>
                </a:solidFill>
                <a:latin typeface="Aptos"/>
              </a:rPr>
              <a:t>ROOT TGenPhaseSpace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1737360"/>
            <a:ext cx="772668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Generazione non pesata dalla soglia fisica; beam fino a 1,75 GeV nel set esteso.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34640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Smearing parametrico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273552"/>
            <a:ext cx="7726680" cy="6400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Energia e direzione di fotoni e protoni; tagger con FWHM 16 MeV.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160520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52657B"/>
                </a:solidFill>
                <a:latin typeface="Aptos"/>
              </a:rPr>
              <a:t>MC autonomo dal vecchio Geant3; accettanza semplificata, non simulazione completa del rivelatore.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08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133856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1545336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00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182112" y="1133856"/>
            <a:ext cx="46634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Fondi storici e nuovi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182112" y="1554480"/>
            <a:ext cx="5029200" cy="1600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π⁰π⁰     3π⁰     4π⁰</a:t>
            </a:r>
          </a:p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η → 3π⁰     ηπ⁰ con η → 3π⁰</a:t>
            </a:r>
          </a:p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η2π⁰     ωπ⁰     η′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20440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VIS: sei canali con soglia ≤ 1,10 GeV.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05072"/>
            <a:ext cx="786384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52657B"/>
                </a:solidFill>
                <a:latin typeface="Aptos"/>
              </a:rPr>
              <a:t>η2π⁰, ωπ⁰ ed η′ restano fuori dall'intervallo VIS per soglia fisica.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BDT: idea e ingressi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09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078992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000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1847088"/>
            <a:ext cx="3657600" cy="9418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Classificatore XGBoost: distingue segnale MC e fondi prima del χ².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80360"/>
            <a:ext cx="3657600" cy="10241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26 feature: masse γγ, quantità mancanti, energia, angoli e protone.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313307"/>
            <a:ext cx="3886200" cy="29146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10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17043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225296"/>
            <a:ext cx="676656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Spettro reale del beam e pesi dei canali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2121408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2176272"/>
            <a:ext cx="676656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Accettanza, perdita di fotoni e 4 γ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07238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371600" y="3127248"/>
            <a:ext cx="676656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Training UV e VIS separati; soglia validata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13232" y="402336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00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4078224"/>
            <a:ext cx="676656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Gate applicato ai dati, poi pairing e fit condivisi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Prestazioni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68096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690872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7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600200"/>
            <a:ext cx="3316224" cy="2487168"/>
          </a:xfrm>
          <a:prstGeom prst="rect">
            <a:avLst/>
          </a:prstGeom>
        </p:spPr>
      </p:pic>
      <p:pic>
        <p:nvPicPr>
          <p:cNvPr id="8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600200"/>
            <a:ext cx="3316224" cy="248716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94944" y="4233672"/>
            <a:ext cx="777240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50" b="0" i="0">
                <a:solidFill>
                  <a:srgbClr val="52657B"/>
                </a:solidFill>
                <a:latin typeface="Aptos"/>
              </a:rPr>
              <a:t>Validazione su MC nella campagna locale; AUC non equivale a purezza misurata sui dati.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216152"/>
            <a:ext cx="25603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1673352"/>
            <a:ext cx="7543800" cy="5212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Classifica run, target, UV/VIS e stato di polarizzazione.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441448"/>
            <a:ext cx="3337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898648"/>
            <a:ext cx="7543800" cy="5212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Associa strip ed energia; calibra POL1, POL2 e BREM per run.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675888"/>
            <a:ext cx="53035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0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14223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Esporre solo run completi: POL1, POL2 e BREM presenti.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13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097280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600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737360" y="1197864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0" i="0">
                <a:solidFill>
                  <a:srgbClr val="112642"/>
                </a:solidFill>
                <a:latin typeface="Aptos"/>
              </a:rPr>
              <a:t>Modulazione azimutale con fascio polarizzato linearmente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2514600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00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22376" y="3072384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895344"/>
            <a:ext cx="78181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Fit: R(φ) = Σ cos(2φ)     ·     likelihood condizionale come cross-check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14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033272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1" i="0">
                <a:solidFill>
                  <a:srgbClr val="0B5FA5"/>
                </a:solidFill>
                <a:latin typeface="Aptos"/>
              </a:rPr>
              <a:t>1,30–1,40 GeV · tre sottosistemi</a:t>
            </a:r>
          </a:p>
        </p:txBody>
      </p:sp>
      <p:pic>
        <p:nvPicPr>
          <p:cNvPr id="6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29811"/>
            <a:ext cx="8138160" cy="218903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713232" y="4005072"/>
            <a:ext cx="772668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Struttura in pη; risultati locali da sottoporre ai controlli sistematici.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04088" y="1024128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1" i="0">
                <a:solidFill>
                  <a:srgbClr val="0B5FA5"/>
                </a:solidFill>
                <a:latin typeface="Aptos"/>
              </a:rPr>
              <a:t>1,40–1,50 GeV · nero: questa analisi · rosso: Ajaka et al.</a:t>
            </a:r>
          </a:p>
        </p:txBody>
      </p:sp>
      <p:pic>
        <p:nvPicPr>
          <p:cNvPr id="6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455803"/>
            <a:ext cx="8138160" cy="2245610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704088" y="3977640"/>
            <a:ext cx="7754112" cy="5852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Confronto punto per punto: compatibilità e scarti dipendono dal sottosistema e dalla massa.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005840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0,9313–1,10 GeV: prima riga aggiunta alla figura combinata</a:t>
            </a:r>
          </a:p>
        </p:txBody>
      </p:sp>
      <p:pic>
        <p:nvPicPr>
          <p:cNvPr id="6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52671"/>
            <a:ext cx="8138160" cy="218903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713232" y="4005072"/>
            <a:ext cx="7726680" cy="5212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Le asimmetrie estratte non sono uniformemente nulle: pη e ηπ⁰ mostrano modulazione.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Una finestra fisica nuova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17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152144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1636776"/>
            <a:ext cx="3813048" cy="9784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Vicino al bordo Compton arriva quasi al 100%; nell'intero intervallo 0,93–1,10 GeV varia con Eγ.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980944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3419856"/>
            <a:ext cx="3822192" cy="10515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Anche vicino alla soglia, code di risonanze larghe e intense possono interferire e produrre Σ non piatta.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0472"/>
            <a:ext cx="3849624" cy="28843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837176"/>
            <a:ext cx="7726680" cy="1645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339328" y="4818888"/>
            <a:ext cx="292608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52657B"/>
                </a:solidFill>
                <a:latin typeface="Aptos"/>
              </a:rPr>
              <a:t>18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04088" y="114300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10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188720"/>
            <a:ext cx="690372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Confrontare flussi e Σ con mergedateu e wnorm.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9339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10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2039112"/>
            <a:ext cx="690372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Misurare asimmetria del fondo nelle sideband.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04088" y="2843784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10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417320" y="2889504"/>
            <a:ext cx="690372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Iniettare Σ piatta nel MC e rieseguire tutta la catena.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04088" y="369417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100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739896"/>
            <a:ext cx="690372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Quantificare sistematiche prima di un risultato finale.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00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Differenziali e totali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Primo paper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Framework e risultati originali; sede di fisica da valutare.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Riutilizzare il framework oltre pηπ⁰.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Dalitz plot non studiati prima; modelli teorici in corso.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Controlli delle sideband e del MC piatto prima della pubblicazione.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302752" y="4818888"/>
            <a:ext cx="274320" cy="1828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900" b="0" i="0">
                <a:solidFill>
                  <a:srgbClr val="DDEFFA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2026-10-06T11:09:30Z</dcterms:created>
  <dcterms:modified xsi:type="dcterms:W3CDTF">2026-10-06T11:09:30Z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