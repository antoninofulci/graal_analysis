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Default Extension="png" ContentType="image/pn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9_score_uv.png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1_roc_uv.png"/><Relationship Id="rId3" Type="http://schemas.openxmlformats.org/officeDocument/2006/relationships/image" Target="../media/graal_slide11_roc_vis.png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sigma_uv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ajaka_uv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6_sigma_vis.png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7_polarization.png"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48126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01/19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48126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01/19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La domanda fisica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wiki/scientific-foundations.md; Ajaka et al.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1170432"/>
            <a:ext cx="7772400" cy="5852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440" b="1" i="0">
                <a:solidFill>
                  <a:srgbClr val="0B5FA5"/>
                </a:solidFill>
                <a:latin typeface="Aptos"/>
              </a:rPr>
              <a:t>γ p  →  p η π⁰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04088" y="1847088"/>
            <a:ext cx="70408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64" b="0" i="0">
                <a:solidFill>
                  <a:srgbClr val="112642"/>
                </a:solidFill>
                <a:latin typeface="Aptos"/>
              </a:rPr>
              <a:t>η → γγ     π⁰ → γγ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432304"/>
            <a:ext cx="7680960" cy="44805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Negli eventi cerchiamo quattro fotoni e un protone di rinculo.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3108960"/>
            <a:ext cx="75895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Σ in pπ⁰, pη ed ηπ⁰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04088" y="3593592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UV: 1,10–1,50 GeV · VIS: 0,9313–1,10 GeV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04088" y="4096512"/>
            <a:ext cx="77266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52657B"/>
                </a:solidFill>
                <a:latin typeface="Aptos"/>
              </a:rPr>
              <a:t>Usiamo i risultati di Ajaka et al. (2008) per verificare l'analisi.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96252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02/19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96252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02/19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Dal Fortran ai file ROOT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wiki/01-pre-analysis.md; 01_pre_analysis/PreAnalysis.C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115568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440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664208" y="1133856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112642"/>
                </a:solidFill>
                <a:latin typeface="Aptos"/>
              </a:rPr>
              <a:t>Eredità Fortran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664208" y="1508760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Il formato h70 conserva gli array e i metadati originali. Nel passaggio</a:t>
            </a:r>
          </a:p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a C++, l'indice forward passa dalla base 1 alla base 0.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295144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440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664208" y="2313432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112642"/>
                </a:solidFill>
                <a:latin typeface="Aptos"/>
              </a:rPr>
              <a:t>Pre-analisi C++/ROOT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664208" y="2679192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PreAnalysis.C applica i criteri PID del singolo run e ricostruisce</a:t>
            </a:r>
          </a:p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fascio, fotoni, tracce cariche e polarizzazione.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3474720"/>
            <a:ext cx="960120" cy="5760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440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664208" y="3493008"/>
            <a:ext cx="6309360" cy="3200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112642"/>
                </a:solidFill>
                <a:latin typeface="Aptos"/>
              </a:rPr>
              <a:t>Output normalizzato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664208" y="3858768"/>
            <a:ext cx="6766560" cy="6309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Otteniamo un file ROOT h80 per periodo. La preselezione produce h85,</a:t>
            </a:r>
          </a:p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mentre RunNumber e Xstrip conservano il legame con la calibrazione.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0"/>
            <a:ext cx="144378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03/19</a:t>
            </a:r>
          </a:p>
        </p:txBody>
      </p:sp>
      <p:sp>
        <p:nvSpPr>
          <p:cNvPr id="17" name="Fill 17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8" name="Fill 18"/>
          <p:cNvSpPr/>
          <p:nvPr/>
        </p:nvSpPr>
        <p:spPr>
          <a:xfrm>
            <a:off x="0" y="4882896"/>
            <a:ext cx="144378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03/19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Preselezione dei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wiki/02-event-selection.md;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97280"/>
            <a:ext cx="1920240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784" b="1" i="0">
                <a:solidFill>
                  <a:srgbClr val="0B5FA5"/>
                </a:solidFill>
                <a:latin typeface="Aptos"/>
              </a:rPr>
              <a:t>h80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309360" y="1097280"/>
            <a:ext cx="1920240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3784" b="1" i="0">
                <a:solidFill>
                  <a:srgbClr val="0B5FA5"/>
                </a:solidFill>
                <a:latin typeface="Aptos"/>
              </a:rPr>
              <a:t>h85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13232" y="1847088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112642"/>
                </a:solidFill>
                <a:latin typeface="Aptos"/>
              </a:rPr>
              <a:t>Applichiamo un filtro topologico con ROOT RDataFrame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2331720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0B5FA5"/>
                </a:solidFill>
                <a:latin typeface="Aptos"/>
              </a:rPr>
              <a:t>gammas.size() &gt; 1  &amp;&amp;  fcharged_theta.size() == 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044952"/>
            <a:ext cx="777240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In questa fase bastano almeno due fotoni. I quattro fotoni dello stato finale vengono richiesti più avanti.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675888"/>
            <a:ext cx="7726680" cy="7040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52657B"/>
                </a:solidFill>
                <a:latin typeface="Aptos"/>
              </a:rPr>
              <a:t>Il tree h85 conserva tutti i rami. RunNumber, Polarization e Xstrip</a:t>
            </a:r>
          </a:p>
          <a:p>
            <a:pPr algn="l"/>
            <a:r>
              <a:rPr lang="it-IT" sz="1505" b="0" i="0">
                <a:solidFill>
                  <a:srgbClr val="52657B"/>
                </a:solidFill>
                <a:latin typeface="Aptos"/>
              </a:rPr>
              <a:t>accompagnano ogni evento nella ricostruzione e nella calibrazione.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19250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04/19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19250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04/19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365760"/>
            <a:ext cx="8046720" cy="5120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FFFFFF"/>
                </a:solidFill>
                <a:latin typeface="Aptos"/>
              </a:rPr>
              <a:t>Un framework di 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078992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01  Dai dati grezzi alla preselezione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225296" y="1453896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I file h70, h80 e h85 mantengono i metadati di run e polarizzazione.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74520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02  Simulazione e selezione BDT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225296" y="2249424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Simuliamo nove canali e alleniamo modelli distinti per UV e VIS.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70048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03  Ricostruzione e flussi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25296" y="3044952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Usiamo lo stesso pairing e calibriamo i flussi POL1, POL2 e BREM.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465576"/>
            <a:ext cx="74066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0" i="0">
                <a:solidFill>
                  <a:srgbClr val="FFFFFF"/>
                </a:solidFill>
                <a:latin typeface="Aptos"/>
              </a:rPr>
              <a:t>04  Asimmetrie e verifiche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225296" y="3840480"/>
            <a:ext cx="7086600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Estraiamo Σ nei tre sottosistemi e confrontiamo i risultati con Ajaka.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389120"/>
            <a:ext cx="777240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0" b="0" i="0">
                <a:solidFill>
                  <a:srgbClr val="DDEFFA"/>
                </a:solidFill>
                <a:latin typeface="Aptos"/>
              </a:rPr>
              <a:t>La stessa catena di analisi potrà essere applicata ad altri canali.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240631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05/19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240631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05/19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wiki/scientific-foundations.md; wiki/05-reconstruction.md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64" b="1" i="0">
                <a:solidFill>
                  <a:srgbClr val="0B5FA5"/>
                </a:solidFill>
                <a:latin typeface="Aptos"/>
              </a:rPr>
              <a:t>3 partizioni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63624"/>
            <a:ext cx="3703320" cy="10058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Con quattro fotoni possiamo formare tre coppie disgiunte e sei possibili assegnazioni a η e π⁰.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0" y="1115568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064" b="1" i="0">
                <a:solidFill>
                  <a:srgbClr val="0B5FA5"/>
                </a:solidFill>
                <a:latin typeface="Aptos"/>
              </a:rPr>
              <a:t>χ² minimo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572000" y="1563624"/>
            <a:ext cx="3675888" cy="100584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Scegliamo l'assegnazione più vicina alle masse nominali e richiediamo χ² &lt; 10.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816352"/>
            <a:ext cx="749808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Due campioni confrontabili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291840"/>
            <a:ext cx="7717536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Nel campione standard usiamo il pairing χ². Nel campione BDT filtriamo prima sullo score, poi applichiamo lo stesso pairing e gli stessi criteri.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142232"/>
            <a:ext cx="7717536" cy="40233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52657B"/>
                </a:solidFill>
                <a:latin typeface="Aptos"/>
              </a:rPr>
              <a:t>Il modello e la ricostruzione usano le stesse ipotesi sulle masse e lo stesso codice di pairing.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288757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06/19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288757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06/19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 senza G3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wiki/03-monte-carlo-simulation.md; 03_mc_simulation/generators/smearing.h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97280"/>
            <a:ext cx="365760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Generazione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81328"/>
            <a:ext cx="7735824" cy="6583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91" b="0" i="0">
                <a:solidFill>
                  <a:srgbClr val="112642"/>
                </a:solidFill>
                <a:latin typeface="Aptos"/>
              </a:rPr>
              <a:t>Generiamo eventi non pesati con ROOT TGenPhaseSpace. La soglia deriva dalle masse dei prodotti finali.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295144"/>
            <a:ext cx="374904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Finestra energetica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88336"/>
            <a:ext cx="772668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91" b="0" i="0">
                <a:solidFill>
                  <a:srgbClr val="112642"/>
                </a:solidFill>
                <a:latin typeface="Aptos"/>
              </a:rPr>
              <a:t>Il campione esteso arriva a 1,75 GeV. Per VIS produciamo un campione dedicato tra la soglia fisica, o 0,9313 GeV se più alta, e 1,10 GeV.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511296"/>
            <a:ext cx="4297680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Risposta strumentale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895344"/>
            <a:ext cx="7735824" cy="6583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Applichiamo lo smearing a fotoni, protone e tagger (FWHM 16 MeV), con un'accettanza semplificata. La simulazione non usa il vecchio G3.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336884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07/19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336884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07/19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Nove canali simulati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wiki/physics-channels.md; wiki/03-monte-carlo-simulation.md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60704"/>
            <a:ext cx="228600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Segnale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17320"/>
            <a:ext cx="237744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580" b="1" i="0">
                <a:solidFill>
                  <a:srgbClr val="112642"/>
                </a:solidFill>
                <a:latin typeface="Aptos"/>
              </a:rPr>
              <a:t>ηπ⁰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2999232" y="1060704"/>
            <a:ext cx="512064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Canali di fondo storici e nuovi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999232" y="1444752"/>
            <a:ext cx="5303520" cy="1490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π⁰π⁰    3π⁰    4π⁰</a:t>
            </a:r>
          </a:p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η → 3π⁰    ηπ⁰ con η → 3π⁰</a:t>
            </a:r>
          </a:p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η2π⁰    ωπ⁰    η′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72384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6/9 canali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5021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ηπ⁰, π⁰π⁰, 3π⁰, 4π⁰, η → 3π⁰, ηπ⁰ con η → 3π⁰.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4078224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Le soglie di η2π⁰, ωπ⁰ ed η′ superano 1,10 GeV. Questi canali restano nel catalogo UV, ma non nel campione VIS.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385010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08/19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385010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08/19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Come funziona il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artifacts/stage1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42416"/>
            <a:ext cx="2926080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14" b="1" i="0">
                <a:solidFill>
                  <a:srgbClr val="0B5FA5"/>
                </a:solidFill>
                <a:latin typeface="Aptos"/>
              </a:rPr>
              <a:t>BDT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19656"/>
            <a:ext cx="3685032" cy="7498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Alleniamo XGBoost sul MC per distinguere il segnale dai canali di fondo.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88336"/>
            <a:ext cx="3730752" cy="10332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Il modello usa 26 variabili, tra cui masse γγ, massa mancante, energia e angoli. Le calcoliamo allo stesso modo anche sui dati.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767328"/>
            <a:ext cx="3703320" cy="7315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Nel training bilanciamo le classi e rimescoliamo l'ordine dei fotoni, così il modello non impara scorciatoie spurie.</a:t>
            </a:r>
          </a:p>
        </p:txBody>
      </p:sp>
      <p:pic>
        <p:nvPicPr>
          <p:cNvPr id="8" name="score_uv.png" descr="score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328166"/>
            <a:ext cx="3931920" cy="2948940"/>
          </a:xfrm>
          <a:prstGeom prst="rect">
            <a:avLst/>
          </a:prstGeom>
        </p:spPr>
      </p:pic>
      <p:sp>
        <p:nvSpPr>
          <p:cNvPr id="9" name="Fill 9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0"/>
            <a:ext cx="433136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09/19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433136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Dal MC ai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wiki/05-stage1-gate.md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78992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371600" y="1088136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Spettro misurato e pesi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371600" y="1453896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Pesiamo il MC con il flusso del tagger, la sezione d'urto e l'accettanza.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1956816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1965960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Quattro fotoni osservati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2331720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Applichiamo a segnale e fondi la perdita di fotoni e il loro rimescolamento.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2834640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371600" y="2843784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Due modelli per UV e VIS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371600" y="3209544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Per ogni regione salviamo insieme il modello, la soglia e la provenienza.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13232" y="3712464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371600" y="3721608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Selezione dei dati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371600" y="4087368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Dopo il filtro BDT, ricostruiamo gli eventi con la stessa ipotesi e lo stesso pairing χ².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481263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10/19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481263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Risultati del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results/test_data/uv|vis/bdt/artifacts/stage1/stage1_metrics.txt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8096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UV  AUC 0,9975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690872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VIS  AUC 0,9995</a:t>
            </a:r>
          </a:p>
        </p:txBody>
      </p:sp>
      <p:pic>
        <p:nvPicPr>
          <p:cNvPr id="6" name="roc_uv.png" descr="roc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435608"/>
            <a:ext cx="3316224" cy="2487168"/>
          </a:xfrm>
          <a:prstGeom prst="rect">
            <a:avLst/>
          </a:prstGeom>
        </p:spPr>
      </p:pic>
      <p:pic>
        <p:nvPicPr>
          <p:cNvPr id="7" name="roc_vis.png" descr="roc_vis.png"/>
          <p:cNvPicPr>
            <a:picLocks noChangeAspect="1" noGr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424" y="1435608"/>
            <a:ext cx="3316224" cy="24871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740664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0,9842 · soglia 0,1233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663440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0,9956 · soglia 0,0740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334256"/>
            <a:ext cx="7772400" cy="2286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Queste metriche vengono dal MC di prova: l'AUC non indica la purezza del campione reale.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29389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11/19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529389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11/19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0704"/>
            <a:ext cx="32918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453896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Il manifest assegna a ogni run il target, la regione UV o VIS e lo stato di polarizzazione.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002536"/>
            <a:ext cx="38404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395728"/>
            <a:ext cx="75438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Calibriamo l'energia delle strip 1–128 con la mediana misurata per run e polarizzazione.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971800"/>
            <a:ext cx="63093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POL1 · POL2 · BREM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36499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Per usare un run servono tutti e tre i flussi. Se ne manca uno, escludiamo il run.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3968496"/>
            <a:ext cx="548640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5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343400"/>
            <a:ext cx="7498080" cy="2468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52657B"/>
                </a:solidFill>
                <a:latin typeface="Aptos"/>
              </a:rPr>
              <a:t>Il file finale conserva gli assi energetici calibrati e viene scritto in modo atomico.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577515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12/19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577515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625642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13/19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625642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13/19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73768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14/19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4882896"/>
            <a:ext cx="673768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14/19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2189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15/19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4882896"/>
            <a:ext cx="72189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15/19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70021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16/19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4882896"/>
            <a:ext cx="770021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16/19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18147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17/19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818147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17/19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6273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18/19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866273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18/19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0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19/19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2026-10-06T11:46:54Z</dcterms:created>
  <dcterms:modified xsi:type="dcterms:W3CDTF">2026-10-06T11:46:54Z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