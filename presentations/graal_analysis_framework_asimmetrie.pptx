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package/2006/relationships/metadata/extended-properties" Target="docProps/app0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577" autoAdjust="0"/>
    <p:restoredTop sz="94758" autoAdjust="0"/>
  </p:normalViewPr>
  <p:slideViewPr>
    <p:cSldViewPr snapToGrid="0" snapToObjects="1">
      <p:cViewPr varScale="1">
        <p:scale>
          <a:sx n="197" d="100"/>
          <a:sy n="197" d="100"/>
        </p:scale>
        <p:origin x="216" y="1528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T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307D8E1-7F65-B246-988C-ACD65CF75BAF}" type="datetimeFigureOut">
              <a:rPr lang="en-IT" smtClean="0"/>
              <a:t>06/10/2026</a:t>
            </a:fld>
            <a:endParaRPr lang="en-IT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T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A6A805C-1B62-4B47-A4BE-B4A6928E57EF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23164187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A6A805C-1B62-4B47-A4BE-B4A6928E57EF}" type="slidenum">
              <a:rPr lang="en-IT" smtClean="0"/>
              <a:t>7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20694570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10/6/26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rtl="0" eaLnBrk="1" latinLnBrk="0" hangingPunct="1"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342900" algn="l" defTabSz="342900" rtl="0" eaLnBrk="1" latinLnBrk="0" hangingPunct="1">
        <a:spcBef>
          <a:spcPct val="20000"/>
        </a:spcBef>
        <a:buFont typeface="Arial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indent="-342900" algn="l" defTabSz="3429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-342900" algn="l" defTabSz="342900" rtl="0" eaLnBrk="1" latinLnBrk="0" hangingPunct="1">
        <a:spcBef>
          <a:spcPct val="20000"/>
        </a:spcBef>
        <a:buFont typeface="Arial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714500" indent="-342900" algn="l" defTabSz="342900" rtl="0" eaLnBrk="1" latinLnBrk="0" hangingPunct="1">
        <a:spcBef>
          <a:spcPct val="20000"/>
        </a:spcBef>
        <a:buFont typeface="Arial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E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612648" y="612648"/>
            <a:ext cx="7772400" cy="713232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43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640080" y="1874520"/>
            <a:ext cx="5623560" cy="841248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4128" b="1" i="0">
                <a:solidFill>
                  <a:srgbClr val="DDEFFA"/>
                </a:solidFill>
                <a:latin typeface="Aptos"/>
              </a:rPr>
              <a:t>γp → pηπ⁰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400800" y="1234440"/>
            <a:ext cx="2103120" cy="2423160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r"/>
            <a:r>
              <a:rPr lang="it-IT" sz="14104" b="1" i="0">
                <a:solidFill>
                  <a:srgbClr val="0877C7"/>
                </a:solidFill>
                <a:latin typeface="Aptos"/>
              </a:rPr>
              <a:t>Σ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658368" y="4352544"/>
            <a:ext cx="7863840" cy="256032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1300" b="0" i="0">
                <a:solidFill>
                  <a:srgbClr val="DDEFFA"/>
                </a:solidFill>
                <a:latin typeface="Aptos"/>
              </a:rPr>
              <a:t>6 ottobre 2026</a:t>
            </a:r>
          </a:p>
        </p:txBody>
      </p:sp>
      <p:sp>
        <p:nvSpPr>
          <p:cNvPr id="6" name="Fill 6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7" name="Fill 7"/>
          <p:cNvSpPr/>
          <p:nvPr/>
        </p:nvSpPr>
        <p:spPr>
          <a:xfrm>
            <a:off x="0" y="0"/>
            <a:ext cx="537882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8" name="Text 8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9" name="Fill 9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0" name="Fill 10"/>
          <p:cNvSpPr/>
          <p:nvPr/>
        </p:nvSpPr>
        <p:spPr>
          <a:xfrm>
            <a:off x="0" y="4882896"/>
            <a:ext cx="537882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1" name="Text 11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INTRO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01/17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GRAAL e obiettivo del lavoro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D. Rebreyend (MENU04); V. Nedorezov (2015); Ajaka et al., PRL 100 (2008)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58368" y="1042416"/>
            <a:ext cx="3840480" cy="347472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1806" b="1" i="0">
                <a:solidFill>
                  <a:srgbClr val="0B5FA5"/>
                </a:solidFill>
                <a:latin typeface="Aptos"/>
              </a:rPr>
              <a:t>GRAAL all'ESRF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658368" y="1417320"/>
            <a:ext cx="3776472" cy="969264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1462" b="0" i="0" dirty="0">
                <a:solidFill>
                  <a:srgbClr val="112642"/>
                </a:solidFill>
                <a:latin typeface="Aptos"/>
              </a:rPr>
              <a:t>A Grenoble, il </a:t>
            </a:r>
            <a:r>
              <a:rPr lang="it-IT" sz="1462" b="0" i="0" dirty="0" err="1">
                <a:solidFill>
                  <a:srgbClr val="112642"/>
                </a:solidFill>
                <a:latin typeface="Aptos"/>
              </a:rPr>
              <a:t>backscattering</a:t>
            </a:r>
            <a:r>
              <a:rPr lang="it-IT" sz="1462" b="0" i="0" dirty="0">
                <a:solidFill>
                  <a:srgbClr val="112642"/>
                </a:solidFill>
                <a:latin typeface="Aptos"/>
              </a:rPr>
              <a:t> Compton del laser sugli elettroni dell'anello produce fotoni polarizzati. </a:t>
            </a:r>
            <a:r>
              <a:rPr lang="it-IT" sz="1462" b="0" i="0" dirty="0" err="1">
                <a:solidFill>
                  <a:srgbClr val="112642"/>
                </a:solidFill>
                <a:latin typeface="Aptos"/>
              </a:rPr>
              <a:t>LAGRANγE</a:t>
            </a:r>
            <a:r>
              <a:rPr lang="it-IT" sz="1462" b="0" i="0" dirty="0">
                <a:solidFill>
                  <a:srgbClr val="112642"/>
                </a:solidFill>
                <a:latin typeface="Aptos"/>
              </a:rPr>
              <a:t> registra i prodotti della reazione su un ampio angolo.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658368" y="2542032"/>
            <a:ext cx="3840480" cy="347472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1806" b="1" i="0">
                <a:solidFill>
                  <a:srgbClr val="0B5FA5"/>
                </a:solidFill>
                <a:latin typeface="Aptos"/>
              </a:rPr>
              <a:t>Il nostro lavoro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658368" y="2907792"/>
            <a:ext cx="3970782" cy="621792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it-IT" sz="1462" b="0" i="0" dirty="0">
                <a:solidFill>
                  <a:srgbClr val="112642"/>
                </a:solidFill>
                <a:latin typeface="Aptos"/>
              </a:rPr>
              <a:t>Framework che porta i dati GRAAL dalla </a:t>
            </a:r>
            <a:r>
              <a:rPr lang="it-IT" sz="1462" b="0" i="0" dirty="0" err="1">
                <a:solidFill>
                  <a:srgbClr val="112642"/>
                </a:solidFill>
                <a:latin typeface="Aptos"/>
              </a:rPr>
              <a:t>pre</a:t>
            </a:r>
            <a:r>
              <a:rPr lang="it-IT" sz="1462" b="0" i="0" dirty="0">
                <a:solidFill>
                  <a:srgbClr val="112642"/>
                </a:solidFill>
                <a:latin typeface="Aptos"/>
              </a:rPr>
              <a:t>-selezione all'estrazione delle asimmetrie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658368" y="3602736"/>
            <a:ext cx="3776472" cy="548640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it-IT" sz="1462" b="0" i="0" dirty="0">
                <a:solidFill>
                  <a:srgbClr val="112642"/>
                </a:solidFill>
                <a:latin typeface="Aptos"/>
              </a:rPr>
              <a:t>Testato su </a:t>
            </a:r>
            <a:r>
              <a:rPr lang="it-IT" sz="1462" b="0" i="0" dirty="0" err="1">
                <a:solidFill>
                  <a:srgbClr val="112642"/>
                </a:solidFill>
                <a:latin typeface="Aptos"/>
              </a:rPr>
              <a:t>γp</a:t>
            </a:r>
            <a:r>
              <a:rPr lang="it-IT" sz="1462" b="0" i="0" dirty="0">
                <a:solidFill>
                  <a:srgbClr val="112642"/>
                </a:solidFill>
                <a:latin typeface="Aptos"/>
              </a:rPr>
              <a:t> → </a:t>
            </a:r>
            <a:r>
              <a:rPr lang="it-IT" sz="1462" b="0" i="0" dirty="0" err="1">
                <a:solidFill>
                  <a:srgbClr val="112642"/>
                </a:solidFill>
                <a:latin typeface="Aptos"/>
              </a:rPr>
              <a:t>pη</a:t>
            </a:r>
            <a:r>
              <a:rPr lang="it-IT" sz="1462" b="0" i="0" dirty="0">
                <a:solidFill>
                  <a:srgbClr val="112642"/>
                </a:solidFill>
                <a:latin typeface="Aptos"/>
              </a:rPr>
              <a:t>π⁰, confrontando i risultati con </a:t>
            </a:r>
            <a:r>
              <a:rPr lang="it-IT" sz="1462" b="0" i="0" dirty="0" err="1">
                <a:solidFill>
                  <a:srgbClr val="112642"/>
                </a:solidFill>
                <a:latin typeface="Aptos"/>
              </a:rPr>
              <a:t>Ajaka</a:t>
            </a:r>
            <a:r>
              <a:rPr lang="it-IT" sz="1462" b="0" i="0" dirty="0">
                <a:solidFill>
                  <a:srgbClr val="112642"/>
                </a:solidFill>
                <a:latin typeface="Aptos"/>
              </a:rPr>
              <a:t> et al. (2008).</a:t>
            </a:r>
          </a:p>
        </p:txBody>
      </p:sp>
      <p:pic>
        <p:nvPicPr>
          <p:cNvPr id="9" name="graal_detector_source.jpg" descr="graal_detector_source.jpg"/>
          <p:cNvPicPr>
            <a:picLocks noGrp="1" noChangeAspect="1"/>
          </p:cNvPicPr>
          <p:nvPr/>
        </p:nvPicPr>
        <p:blipFill>
          <a:blip r:embed="rId2"/>
          <a:srcRect l="5000" t="18000" r="34000" b="24000"/>
          <a:stretch>
            <a:fillRect/>
          </a:stretch>
        </p:blipFill>
        <p:spPr>
          <a:xfrm>
            <a:off x="4700016" y="1106424"/>
            <a:ext cx="3730752" cy="2660904"/>
          </a:xfrm>
          <a:prstGeom prst="rect">
            <a:avLst/>
          </a:prstGeom>
        </p:spPr>
      </p:pic>
      <p:sp>
        <p:nvSpPr>
          <p:cNvPr id="10" name="Text 10"/>
          <p:cNvSpPr txBox="1"/>
          <p:nvPr/>
        </p:nvSpPr>
        <p:spPr>
          <a:xfrm>
            <a:off x="4709160" y="3803904"/>
            <a:ext cx="3703320" cy="219456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1100" b="0" i="0">
                <a:solidFill>
                  <a:srgbClr val="52657B"/>
                </a:solidFill>
                <a:latin typeface="Aptos"/>
              </a:rPr>
              <a:t>LAGRANγE: fascio (1), bersaglio (2), BGO (3), parete (8)</a:t>
            </a:r>
          </a:p>
        </p:txBody>
      </p:sp>
      <p:sp>
        <p:nvSpPr>
          <p:cNvPr id="12" name="Fill 12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3" name="Fill 13"/>
          <p:cNvSpPr/>
          <p:nvPr/>
        </p:nvSpPr>
        <p:spPr>
          <a:xfrm>
            <a:off x="0" y="0"/>
            <a:ext cx="1075765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4" name="Text 14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15" name="Fill 15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6" name="Fill 16"/>
          <p:cNvSpPr/>
          <p:nvPr/>
        </p:nvSpPr>
        <p:spPr>
          <a:xfrm>
            <a:off x="0" y="4882896"/>
            <a:ext cx="1075765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7" name="Text 17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INTRO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02/17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Il flusso completo dell'analisi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wiki/workflow.md; wiki/data-and-artifacts.md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12648" y="1207008"/>
            <a:ext cx="694944" cy="274320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1200" b="1" i="0">
                <a:solidFill>
                  <a:srgbClr val="0B5FA5"/>
                </a:solidFill>
                <a:latin typeface="Aptos"/>
              </a:rPr>
              <a:t>DATI</a:t>
            </a:r>
          </a:p>
        </p:txBody>
      </p:sp>
      <p:sp>
        <p:nvSpPr>
          <p:cNvPr id="5" name="Fill 5"/>
          <p:cNvSpPr/>
          <p:nvPr/>
        </p:nvSpPr>
        <p:spPr>
          <a:xfrm>
            <a:off x="1325880" y="1033272"/>
            <a:ext cx="1207008" cy="576072"/>
          </a:xfrm>
          <a:prstGeom prst="roundRect">
            <a:avLst/>
          </a:prstGeom>
          <a:solidFill>
            <a:srgbClr val="DDEFFA"/>
          </a:solidFill>
          <a:ln>
            <a:noFill/>
          </a:ln>
        </p:spPr>
      </p:sp>
      <p:sp>
        <p:nvSpPr>
          <p:cNvPr id="6" name="Text 6"/>
          <p:cNvSpPr txBox="1"/>
          <p:nvPr/>
        </p:nvSpPr>
        <p:spPr>
          <a:xfrm>
            <a:off x="1399032" y="1069848"/>
            <a:ext cx="1060704" cy="502920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it-IT" sz="1500" b="1" i="0">
                <a:solidFill>
                  <a:srgbClr val="071E42"/>
                </a:solidFill>
                <a:latin typeface="Aptos"/>
              </a:rPr>
              <a:t>ROOT h70</a:t>
            </a:r>
          </a:p>
          <a:p>
            <a:pPr algn="ctr"/>
            <a:r>
              <a:rPr lang="it-IT" sz="1500" b="1" i="0">
                <a:solidFill>
                  <a:srgbClr val="071E42"/>
                </a:solidFill>
                <a:latin typeface="Aptos"/>
              </a:rPr>
              <a:t>grezzi</a:t>
            </a:r>
          </a:p>
        </p:txBody>
      </p:sp>
      <p:sp>
        <p:nvSpPr>
          <p:cNvPr id="7" name="Fill 7"/>
          <p:cNvSpPr/>
          <p:nvPr/>
        </p:nvSpPr>
        <p:spPr>
          <a:xfrm>
            <a:off x="2752344" y="1033272"/>
            <a:ext cx="1261872" cy="576072"/>
          </a:xfrm>
          <a:prstGeom prst="roundRect">
            <a:avLst/>
          </a:prstGeom>
          <a:solidFill>
            <a:srgbClr val="DDEFFA"/>
          </a:solidFill>
          <a:ln>
            <a:noFill/>
          </a:ln>
        </p:spPr>
      </p:sp>
      <p:sp>
        <p:nvSpPr>
          <p:cNvPr id="8" name="Text 8"/>
          <p:cNvSpPr txBox="1"/>
          <p:nvPr/>
        </p:nvSpPr>
        <p:spPr>
          <a:xfrm>
            <a:off x="2825496" y="1069848"/>
            <a:ext cx="1115568" cy="502920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it-IT" sz="1500" b="1" i="0">
                <a:solidFill>
                  <a:srgbClr val="071E42"/>
                </a:solidFill>
                <a:latin typeface="Aptos"/>
              </a:rPr>
              <a:t>Pre-analisi</a:t>
            </a:r>
          </a:p>
          <a:p>
            <a:pPr algn="ctr"/>
            <a:r>
              <a:rPr lang="it-IT" sz="1500" b="1" i="0">
                <a:solidFill>
                  <a:srgbClr val="071E42"/>
                </a:solidFill>
                <a:latin typeface="Aptos"/>
              </a:rPr>
              <a:t>h80</a:t>
            </a:r>
          </a:p>
        </p:txBody>
      </p:sp>
      <p:sp>
        <p:nvSpPr>
          <p:cNvPr id="9" name="Fill 9"/>
          <p:cNvSpPr/>
          <p:nvPr/>
        </p:nvSpPr>
        <p:spPr>
          <a:xfrm>
            <a:off x="4242816" y="1033272"/>
            <a:ext cx="1234440" cy="576072"/>
          </a:xfrm>
          <a:prstGeom prst="roundRect">
            <a:avLst/>
          </a:prstGeom>
          <a:solidFill>
            <a:srgbClr val="DDEFFA"/>
          </a:solidFill>
          <a:ln>
            <a:noFill/>
          </a:ln>
        </p:spPr>
      </p:sp>
      <p:sp>
        <p:nvSpPr>
          <p:cNvPr id="10" name="Text 10"/>
          <p:cNvSpPr txBox="1"/>
          <p:nvPr/>
        </p:nvSpPr>
        <p:spPr>
          <a:xfrm>
            <a:off x="4315968" y="1069848"/>
            <a:ext cx="1088136" cy="502920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it-IT" sz="1500" b="1" i="0">
                <a:solidFill>
                  <a:srgbClr val="071E42"/>
                </a:solidFill>
                <a:latin typeface="Aptos"/>
              </a:rPr>
              <a:t>Selezione</a:t>
            </a:r>
          </a:p>
          <a:p>
            <a:pPr algn="ctr"/>
            <a:r>
              <a:rPr lang="it-IT" sz="1500" b="1" i="0">
                <a:solidFill>
                  <a:srgbClr val="071E42"/>
                </a:solidFill>
                <a:latin typeface="Aptos"/>
              </a:rPr>
              <a:t>h85</a:t>
            </a:r>
          </a:p>
        </p:txBody>
      </p:sp>
      <p:sp>
        <p:nvSpPr>
          <p:cNvPr id="11" name="Fill 11"/>
          <p:cNvSpPr/>
          <p:nvPr/>
        </p:nvSpPr>
        <p:spPr>
          <a:xfrm>
            <a:off x="5705856" y="1033272"/>
            <a:ext cx="1307592" cy="576072"/>
          </a:xfrm>
          <a:prstGeom prst="roundRect">
            <a:avLst/>
          </a:prstGeom>
          <a:solidFill>
            <a:srgbClr val="DDEFFA"/>
          </a:solidFill>
          <a:ln>
            <a:noFill/>
          </a:ln>
        </p:spPr>
      </p:sp>
      <p:sp>
        <p:nvSpPr>
          <p:cNvPr id="12" name="Text 12"/>
          <p:cNvSpPr txBox="1"/>
          <p:nvPr/>
        </p:nvSpPr>
        <p:spPr>
          <a:xfrm>
            <a:off x="5779008" y="1069848"/>
            <a:ext cx="1161288" cy="502920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it-IT" sz="1300" b="1" i="0">
                <a:solidFill>
                  <a:srgbClr val="071E42"/>
                </a:solidFill>
                <a:latin typeface="Aptos"/>
              </a:rPr>
              <a:t>Ricostruzione</a:t>
            </a:r>
          </a:p>
          <a:p>
            <a:pPr algn="ctr"/>
            <a:r>
              <a:rPr lang="it-IT" sz="1300" b="1" i="0">
                <a:solidFill>
                  <a:srgbClr val="071E42"/>
                </a:solidFill>
                <a:latin typeface="Aptos"/>
              </a:rPr>
              <a:t>pηπ⁰</a:t>
            </a:r>
          </a:p>
        </p:txBody>
      </p:sp>
      <p:sp>
        <p:nvSpPr>
          <p:cNvPr id="13" name="Fill 13"/>
          <p:cNvSpPr/>
          <p:nvPr/>
        </p:nvSpPr>
        <p:spPr>
          <a:xfrm>
            <a:off x="7260336" y="1033272"/>
            <a:ext cx="1252728" cy="576072"/>
          </a:xfrm>
          <a:prstGeom prst="roundRect">
            <a:avLst/>
          </a:prstGeom>
          <a:solidFill>
            <a:srgbClr val="DDEFFA"/>
          </a:solidFill>
          <a:ln>
            <a:noFill/>
          </a:ln>
        </p:spPr>
      </p:sp>
      <p:sp>
        <p:nvSpPr>
          <p:cNvPr id="14" name="Text 14"/>
          <p:cNvSpPr txBox="1"/>
          <p:nvPr/>
        </p:nvSpPr>
        <p:spPr>
          <a:xfrm>
            <a:off x="7333488" y="1069848"/>
            <a:ext cx="1106424" cy="502920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it-IT" sz="1500" b="1" i="0">
                <a:solidFill>
                  <a:srgbClr val="071E42"/>
                </a:solidFill>
                <a:latin typeface="Aptos"/>
              </a:rPr>
              <a:t>Σ e figure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2523744" y="1033272"/>
            <a:ext cx="274320" cy="576072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it-IT" sz="1978" b="1" i="0">
                <a:solidFill>
                  <a:srgbClr val="0B5FA5"/>
                </a:solidFill>
                <a:latin typeface="Aptos"/>
              </a:rPr>
              <a:t>→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4014216" y="1033272"/>
            <a:ext cx="274320" cy="576072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it-IT" sz="1978" b="1" i="0">
                <a:solidFill>
                  <a:srgbClr val="0B5FA5"/>
                </a:solidFill>
                <a:latin typeface="Aptos"/>
              </a:rPr>
              <a:t>→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5477256" y="1033272"/>
            <a:ext cx="274320" cy="576072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it-IT" sz="1978" b="1" i="0">
                <a:solidFill>
                  <a:srgbClr val="0B5FA5"/>
                </a:solidFill>
                <a:latin typeface="Aptos"/>
              </a:rPr>
              <a:t>→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7013448" y="1033272"/>
            <a:ext cx="274320" cy="576072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it-IT" sz="1978" b="1" i="0">
                <a:solidFill>
                  <a:srgbClr val="0B5FA5"/>
                </a:solidFill>
                <a:latin typeface="Aptos"/>
              </a:rPr>
              <a:t>→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1335024" y="1673352"/>
            <a:ext cx="7159752" cy="283464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1450" b="0" i="0">
                <a:solidFill>
                  <a:srgbClr val="52657B"/>
                </a:solidFill>
                <a:latin typeface="Aptos"/>
              </a:rPr>
              <a:t>Il percorso principale trasforma i dati del rivelatore in eventi ricostruiti e osservabili.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612648" y="2340864"/>
            <a:ext cx="694944" cy="310896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1200" b="1" i="0">
                <a:solidFill>
                  <a:srgbClr val="0B5FA5"/>
                </a:solidFill>
                <a:latin typeface="Aptos"/>
              </a:rPr>
              <a:t>MC / BDT</a:t>
            </a:r>
          </a:p>
        </p:txBody>
      </p:sp>
      <p:sp>
        <p:nvSpPr>
          <p:cNvPr id="21" name="Fill 21"/>
          <p:cNvSpPr/>
          <p:nvPr/>
        </p:nvSpPr>
        <p:spPr>
          <a:xfrm>
            <a:off x="1325880" y="2157984"/>
            <a:ext cx="1581912" cy="576072"/>
          </a:xfrm>
          <a:prstGeom prst="roundRect">
            <a:avLst/>
          </a:prstGeom>
          <a:solidFill>
            <a:srgbClr val="EAF4FB"/>
          </a:solidFill>
          <a:ln>
            <a:noFill/>
          </a:ln>
        </p:spPr>
      </p:sp>
      <p:sp>
        <p:nvSpPr>
          <p:cNvPr id="22" name="Text 22"/>
          <p:cNvSpPr txBox="1"/>
          <p:nvPr/>
        </p:nvSpPr>
        <p:spPr>
          <a:xfrm>
            <a:off x="1399032" y="2194560"/>
            <a:ext cx="1435608" cy="502920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it-IT" sz="1450" b="1" i="0">
                <a:solidFill>
                  <a:srgbClr val="071E42"/>
                </a:solidFill>
                <a:latin typeface="Aptos"/>
              </a:rPr>
              <a:t>9 canali MC</a:t>
            </a:r>
          </a:p>
          <a:p>
            <a:pPr algn="ctr"/>
            <a:r>
              <a:rPr lang="it-IT" sz="1450" b="1" i="0">
                <a:solidFill>
                  <a:srgbClr val="071E42"/>
                </a:solidFill>
                <a:latin typeface="Aptos"/>
              </a:rPr>
              <a:t>e spettro h85</a:t>
            </a:r>
          </a:p>
        </p:txBody>
      </p:sp>
      <p:sp>
        <p:nvSpPr>
          <p:cNvPr id="23" name="Fill 23"/>
          <p:cNvSpPr/>
          <p:nvPr/>
        </p:nvSpPr>
        <p:spPr>
          <a:xfrm>
            <a:off x="3236976" y="2157984"/>
            <a:ext cx="1554480" cy="576072"/>
          </a:xfrm>
          <a:prstGeom prst="roundRect">
            <a:avLst/>
          </a:prstGeom>
          <a:solidFill>
            <a:srgbClr val="EAF4FB"/>
          </a:solidFill>
          <a:ln>
            <a:noFill/>
          </a:ln>
        </p:spPr>
      </p:sp>
      <p:sp>
        <p:nvSpPr>
          <p:cNvPr id="24" name="Text 24"/>
          <p:cNvSpPr txBox="1"/>
          <p:nvPr/>
        </p:nvSpPr>
        <p:spPr>
          <a:xfrm>
            <a:off x="3310128" y="2194560"/>
            <a:ext cx="1408176" cy="502920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it-IT" sz="1450" b="1" i="0">
                <a:solidFill>
                  <a:srgbClr val="071E42"/>
                </a:solidFill>
                <a:latin typeface="Aptos"/>
              </a:rPr>
              <a:t>26 variabili</a:t>
            </a:r>
          </a:p>
          <a:p>
            <a:pPr algn="ctr"/>
            <a:r>
              <a:rPr lang="it-IT" sz="1450" b="1" i="0">
                <a:solidFill>
                  <a:srgbClr val="071E42"/>
                </a:solidFill>
                <a:latin typeface="Aptos"/>
              </a:rPr>
              <a:t>per evento</a:t>
            </a:r>
          </a:p>
        </p:txBody>
      </p:sp>
      <p:sp>
        <p:nvSpPr>
          <p:cNvPr id="25" name="Fill 25"/>
          <p:cNvSpPr/>
          <p:nvPr/>
        </p:nvSpPr>
        <p:spPr>
          <a:xfrm>
            <a:off x="5120640" y="2157984"/>
            <a:ext cx="1554480" cy="576072"/>
          </a:xfrm>
          <a:prstGeom prst="roundRect">
            <a:avLst/>
          </a:prstGeom>
          <a:solidFill>
            <a:srgbClr val="EAF4FB"/>
          </a:solidFill>
          <a:ln>
            <a:noFill/>
          </a:ln>
        </p:spPr>
      </p:sp>
      <p:sp>
        <p:nvSpPr>
          <p:cNvPr id="26" name="Text 26"/>
          <p:cNvSpPr txBox="1"/>
          <p:nvPr/>
        </p:nvSpPr>
        <p:spPr>
          <a:xfrm>
            <a:off x="5193792" y="2194560"/>
            <a:ext cx="1408176" cy="502920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it-IT" sz="1450" b="1" i="0">
                <a:solidFill>
                  <a:srgbClr val="071E42"/>
                </a:solidFill>
                <a:latin typeface="Aptos"/>
              </a:rPr>
              <a:t>Training</a:t>
            </a:r>
          </a:p>
          <a:p>
            <a:pPr algn="ctr"/>
            <a:r>
              <a:rPr lang="it-IT" sz="1450" b="1" i="0">
                <a:solidFill>
                  <a:srgbClr val="071E42"/>
                </a:solidFill>
                <a:latin typeface="Aptos"/>
              </a:rPr>
              <a:t>UV e VIS</a:t>
            </a:r>
          </a:p>
        </p:txBody>
      </p:sp>
      <p:sp>
        <p:nvSpPr>
          <p:cNvPr id="27" name="Fill 27"/>
          <p:cNvSpPr/>
          <p:nvPr/>
        </p:nvSpPr>
        <p:spPr>
          <a:xfrm>
            <a:off x="7004304" y="2157984"/>
            <a:ext cx="1508760" cy="576072"/>
          </a:xfrm>
          <a:prstGeom prst="roundRect">
            <a:avLst/>
          </a:prstGeom>
          <a:solidFill>
            <a:srgbClr val="EAF4FB"/>
          </a:solidFill>
          <a:ln>
            <a:noFill/>
          </a:ln>
        </p:spPr>
      </p:sp>
      <p:sp>
        <p:nvSpPr>
          <p:cNvPr id="28" name="Text 28"/>
          <p:cNvSpPr txBox="1"/>
          <p:nvPr/>
        </p:nvSpPr>
        <p:spPr>
          <a:xfrm>
            <a:off x="7077456" y="2194560"/>
            <a:ext cx="1362456" cy="502920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it-IT" sz="1450" b="1" i="0">
                <a:solidFill>
                  <a:srgbClr val="071E42"/>
                </a:solidFill>
                <a:latin typeface="Aptos"/>
              </a:rPr>
              <a:t>Gate BDT</a:t>
            </a:r>
          </a:p>
          <a:p>
            <a:pPr algn="ctr"/>
            <a:r>
              <a:rPr lang="it-IT" sz="1450" b="1" i="0">
                <a:solidFill>
                  <a:srgbClr val="071E42"/>
                </a:solidFill>
                <a:latin typeface="Aptos"/>
              </a:rPr>
              <a:t>sui dati</a:t>
            </a:r>
          </a:p>
        </p:txBody>
      </p:sp>
      <p:sp>
        <p:nvSpPr>
          <p:cNvPr id="29" name="Text 29"/>
          <p:cNvSpPr txBox="1"/>
          <p:nvPr/>
        </p:nvSpPr>
        <p:spPr>
          <a:xfrm>
            <a:off x="2916936" y="2157984"/>
            <a:ext cx="274320" cy="576072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it-IT" sz="1978" b="1" i="0">
                <a:solidFill>
                  <a:srgbClr val="0B5FA5"/>
                </a:solidFill>
                <a:latin typeface="Aptos"/>
              </a:rPr>
              <a:t>→</a:t>
            </a:r>
          </a:p>
        </p:txBody>
      </p:sp>
      <p:sp>
        <p:nvSpPr>
          <p:cNvPr id="30" name="Text 30"/>
          <p:cNvSpPr txBox="1"/>
          <p:nvPr/>
        </p:nvSpPr>
        <p:spPr>
          <a:xfrm>
            <a:off x="4800600" y="2157984"/>
            <a:ext cx="274320" cy="576072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it-IT" sz="1978" b="1" i="0">
                <a:solidFill>
                  <a:srgbClr val="0B5FA5"/>
                </a:solidFill>
                <a:latin typeface="Aptos"/>
              </a:rPr>
              <a:t>→</a:t>
            </a:r>
          </a:p>
        </p:txBody>
      </p:sp>
      <p:sp>
        <p:nvSpPr>
          <p:cNvPr id="31" name="Text 31"/>
          <p:cNvSpPr txBox="1"/>
          <p:nvPr/>
        </p:nvSpPr>
        <p:spPr>
          <a:xfrm>
            <a:off x="6684264" y="2157984"/>
            <a:ext cx="274320" cy="576072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it-IT" sz="1978" b="1" i="0">
                <a:solidFill>
                  <a:srgbClr val="0B5FA5"/>
                </a:solidFill>
                <a:latin typeface="Aptos"/>
              </a:rPr>
              <a:t>→</a:t>
            </a:r>
          </a:p>
        </p:txBody>
      </p:sp>
      <p:sp>
        <p:nvSpPr>
          <p:cNvPr id="32" name="Text 32"/>
          <p:cNvSpPr txBox="1"/>
          <p:nvPr/>
        </p:nvSpPr>
        <p:spPr>
          <a:xfrm>
            <a:off x="1335024" y="2798064"/>
            <a:ext cx="7159752" cy="283464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1450" b="0" i="0">
                <a:solidFill>
                  <a:srgbClr val="52657B"/>
                </a:solidFill>
                <a:latin typeface="Aptos"/>
              </a:rPr>
              <a:t>Il classificatore apprende dal MC e dallo spettro misurato; il gate precede la ricostruzione.</a:t>
            </a:r>
          </a:p>
        </p:txBody>
      </p:sp>
      <p:sp>
        <p:nvSpPr>
          <p:cNvPr id="33" name="Text 33"/>
          <p:cNvSpPr txBox="1"/>
          <p:nvPr/>
        </p:nvSpPr>
        <p:spPr>
          <a:xfrm>
            <a:off x="612648" y="3465576"/>
            <a:ext cx="694944" cy="310896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1200" b="1" i="0">
                <a:solidFill>
                  <a:srgbClr val="0B5FA5"/>
                </a:solidFill>
                <a:latin typeface="Aptos"/>
              </a:rPr>
              <a:t>FLUSSI</a:t>
            </a:r>
          </a:p>
        </p:txBody>
      </p:sp>
      <p:sp>
        <p:nvSpPr>
          <p:cNvPr id="34" name="Fill 34"/>
          <p:cNvSpPr/>
          <p:nvPr/>
        </p:nvSpPr>
        <p:spPr>
          <a:xfrm>
            <a:off x="1325880" y="3282696"/>
            <a:ext cx="1901952" cy="576072"/>
          </a:xfrm>
          <a:prstGeom prst="roundRect">
            <a:avLst/>
          </a:prstGeom>
          <a:solidFill>
            <a:srgbClr val="EEF6FC"/>
          </a:solidFill>
          <a:ln>
            <a:noFill/>
          </a:ln>
        </p:spPr>
      </p:sp>
      <p:sp>
        <p:nvSpPr>
          <p:cNvPr id="35" name="Text 35"/>
          <p:cNvSpPr txBox="1"/>
          <p:nvPr/>
        </p:nvSpPr>
        <p:spPr>
          <a:xfrm>
            <a:off x="1399032" y="3319272"/>
            <a:ext cx="1755648" cy="502920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it-IT" sz="1450" b="1" i="0">
                <a:solidFill>
                  <a:srgbClr val="071E42"/>
                </a:solidFill>
                <a:latin typeface="Aptos"/>
              </a:rPr>
              <a:t>h80, manifest</a:t>
            </a:r>
          </a:p>
          <a:p>
            <a:pPr algn="ctr"/>
            <a:r>
              <a:rPr lang="it-IT" sz="1450" b="1" i="0">
                <a:solidFill>
                  <a:srgbClr val="071E42"/>
                </a:solidFill>
                <a:latin typeface="Aptos"/>
              </a:rPr>
              <a:t>e flussi esterni</a:t>
            </a:r>
          </a:p>
        </p:txBody>
      </p:sp>
      <p:sp>
        <p:nvSpPr>
          <p:cNvPr id="36" name="Fill 36"/>
          <p:cNvSpPr/>
          <p:nvPr/>
        </p:nvSpPr>
        <p:spPr>
          <a:xfrm>
            <a:off x="3602736" y="3282696"/>
            <a:ext cx="2011680" cy="576072"/>
          </a:xfrm>
          <a:prstGeom prst="roundRect">
            <a:avLst/>
          </a:prstGeom>
          <a:solidFill>
            <a:srgbClr val="EEF6FC"/>
          </a:solidFill>
          <a:ln>
            <a:noFill/>
          </a:ln>
        </p:spPr>
      </p:sp>
      <p:sp>
        <p:nvSpPr>
          <p:cNvPr id="37" name="Text 37"/>
          <p:cNvSpPr txBox="1"/>
          <p:nvPr/>
        </p:nvSpPr>
        <p:spPr>
          <a:xfrm>
            <a:off x="3675888" y="3319272"/>
            <a:ext cx="1865376" cy="502920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it-IT" sz="1450" b="1" i="0">
                <a:solidFill>
                  <a:srgbClr val="071E42"/>
                </a:solidFill>
                <a:latin typeface="Aptos"/>
              </a:rPr>
              <a:t>Energia per strip</a:t>
            </a:r>
          </a:p>
          <a:p>
            <a:pPr algn="ctr"/>
            <a:r>
              <a:rPr lang="it-IT" sz="1450" b="1" i="0">
                <a:solidFill>
                  <a:srgbClr val="071E42"/>
                </a:solidFill>
                <a:latin typeface="Aptos"/>
              </a:rPr>
              <a:t>e polarizzazione</a:t>
            </a:r>
          </a:p>
        </p:txBody>
      </p:sp>
      <p:sp>
        <p:nvSpPr>
          <p:cNvPr id="38" name="Fill 38"/>
          <p:cNvSpPr/>
          <p:nvPr/>
        </p:nvSpPr>
        <p:spPr>
          <a:xfrm>
            <a:off x="5998464" y="3282696"/>
            <a:ext cx="2514600" cy="576072"/>
          </a:xfrm>
          <a:prstGeom prst="roundRect">
            <a:avLst/>
          </a:prstGeom>
          <a:solidFill>
            <a:srgbClr val="EEF6FC"/>
          </a:solidFill>
          <a:ln>
            <a:noFill/>
          </a:ln>
        </p:spPr>
      </p:sp>
      <p:sp>
        <p:nvSpPr>
          <p:cNvPr id="39" name="Text 39"/>
          <p:cNvSpPr txBox="1"/>
          <p:nvPr/>
        </p:nvSpPr>
        <p:spPr>
          <a:xfrm>
            <a:off x="6071616" y="3319272"/>
            <a:ext cx="2368296" cy="502920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it-IT" sz="1450" b="1" i="0">
                <a:solidFill>
                  <a:srgbClr val="071E42"/>
                </a:solidFill>
                <a:latin typeface="Aptos"/>
              </a:rPr>
              <a:t>Flussi calibrati</a:t>
            </a:r>
          </a:p>
          <a:p>
            <a:pPr algn="ctr"/>
            <a:r>
              <a:rPr lang="it-IT" sz="1450" b="1" i="0">
                <a:solidFill>
                  <a:srgbClr val="071E42"/>
                </a:solidFill>
                <a:latin typeface="Aptos"/>
              </a:rPr>
              <a:t>POL1 / POL2 / BREM</a:t>
            </a:r>
          </a:p>
        </p:txBody>
      </p:sp>
      <p:sp>
        <p:nvSpPr>
          <p:cNvPr id="40" name="Text 40"/>
          <p:cNvSpPr txBox="1"/>
          <p:nvPr/>
        </p:nvSpPr>
        <p:spPr>
          <a:xfrm>
            <a:off x="3255264" y="3282696"/>
            <a:ext cx="274320" cy="576072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it-IT" sz="1978" b="1" i="0">
                <a:solidFill>
                  <a:srgbClr val="0B5FA5"/>
                </a:solidFill>
                <a:latin typeface="Aptos"/>
              </a:rPr>
              <a:t>→</a:t>
            </a:r>
          </a:p>
        </p:txBody>
      </p:sp>
      <p:sp>
        <p:nvSpPr>
          <p:cNvPr id="41" name="Text 41"/>
          <p:cNvSpPr txBox="1"/>
          <p:nvPr/>
        </p:nvSpPr>
        <p:spPr>
          <a:xfrm>
            <a:off x="5650992" y="3282696"/>
            <a:ext cx="274320" cy="576072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it-IT" sz="1978" b="1" i="0">
                <a:solidFill>
                  <a:srgbClr val="0B5FA5"/>
                </a:solidFill>
                <a:latin typeface="Aptos"/>
              </a:rPr>
              <a:t>→</a:t>
            </a:r>
          </a:p>
        </p:txBody>
      </p:sp>
      <p:sp>
        <p:nvSpPr>
          <p:cNvPr id="42" name="Text 42"/>
          <p:cNvSpPr txBox="1"/>
          <p:nvPr/>
        </p:nvSpPr>
        <p:spPr>
          <a:xfrm>
            <a:off x="667512" y="4123944"/>
            <a:ext cx="7891272" cy="384048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1333" b="0" i="0">
                <a:solidFill>
                  <a:srgbClr val="112642"/>
                </a:solidFill>
                <a:latin typeface="Aptos"/>
              </a:rPr>
              <a:t>Gli estimatori di Σ combinano eventi ricostruiti, esposizione calibrata e polarizzazione per run.</a:t>
            </a:r>
          </a:p>
        </p:txBody>
      </p:sp>
      <p:sp>
        <p:nvSpPr>
          <p:cNvPr id="43" name="Fill 43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44" name="Fill 44"/>
          <p:cNvSpPr/>
          <p:nvPr/>
        </p:nvSpPr>
        <p:spPr>
          <a:xfrm>
            <a:off x="0" y="0"/>
            <a:ext cx="1613647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45" name="Text 45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46" name="Fill 46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47" name="Fill 47"/>
          <p:cNvSpPr/>
          <p:nvPr/>
        </p:nvSpPr>
        <p:spPr>
          <a:xfrm>
            <a:off x="0" y="4882896"/>
            <a:ext cx="1613647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48" name="Text 48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FRAMEWORK</a:t>
            </a:r>
          </a:p>
        </p:txBody>
      </p:sp>
      <p:sp>
        <p:nvSpPr>
          <p:cNvPr id="49" name="Text 49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03/17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Dai dati Fortran alla preselezione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850" b="0" i="0" dirty="0">
                <a:solidFill>
                  <a:srgbClr val="52657B"/>
                </a:solidFill>
                <a:latin typeface="Aptos"/>
              </a:rPr>
              <a:t>Fonte: codice semplificato da </a:t>
            </a:r>
            <a:r>
              <a:rPr lang="it-IT" sz="850" b="0" i="0" dirty="0" err="1">
                <a:solidFill>
                  <a:srgbClr val="52657B"/>
                </a:solidFill>
                <a:latin typeface="Aptos"/>
              </a:rPr>
              <a:t>PreAnalysis.C</a:t>
            </a:r>
            <a:r>
              <a:rPr lang="it-IT" sz="850" b="0" i="0" dirty="0">
                <a:solidFill>
                  <a:srgbClr val="52657B"/>
                </a:solidFill>
                <a:latin typeface="Aptos"/>
              </a:rPr>
              <a:t> e </a:t>
            </a:r>
            <a:r>
              <a:rPr lang="it-IT" sz="850" b="0" i="0" dirty="0" err="1">
                <a:solidFill>
                  <a:srgbClr val="52657B"/>
                </a:solidFill>
                <a:latin typeface="Aptos"/>
              </a:rPr>
              <a:t>select_events.py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58368" y="987552"/>
            <a:ext cx="7845552" cy="566928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1419" b="0" i="0" dirty="0">
                <a:solidFill>
                  <a:srgbClr val="112642"/>
                </a:solidFill>
                <a:latin typeface="Aptos"/>
              </a:rPr>
              <a:t>Le routine Fortran hanno prodotto i dati storici. </a:t>
            </a:r>
            <a:r>
              <a:rPr lang="it-IT" sz="1419" b="0" i="1" dirty="0">
                <a:solidFill>
                  <a:srgbClr val="112642"/>
                </a:solidFill>
                <a:latin typeface="Aptos"/>
              </a:rPr>
              <a:t>Antonio Riggio </a:t>
            </a:r>
            <a:r>
              <a:rPr lang="it-IT" sz="1419" b="0" i="0" dirty="0">
                <a:solidFill>
                  <a:srgbClr val="112642"/>
                </a:solidFill>
                <a:latin typeface="Aptos"/>
              </a:rPr>
              <a:t>li ha convertiti in ROOT h70 e ha preparato i tagli PID; il codice della repo parte dai file h70 già convertiti.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658368" y="1618488"/>
            <a:ext cx="7845552" cy="457200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1376" b="1" i="0" dirty="0">
                <a:solidFill>
                  <a:srgbClr val="0B5FA5"/>
                </a:solidFill>
                <a:latin typeface="Aptos"/>
              </a:rPr>
              <a:t>Con C++/ROOT produciamo </a:t>
            </a:r>
            <a:r>
              <a:rPr lang="it-IT" sz="1376" b="1" dirty="0">
                <a:solidFill>
                  <a:srgbClr val="0B5FA5"/>
                </a:solidFill>
                <a:latin typeface="Aptos"/>
              </a:rPr>
              <a:t>i file </a:t>
            </a:r>
            <a:r>
              <a:rPr lang="it-IT" sz="1376" b="1" dirty="0" err="1">
                <a:solidFill>
                  <a:srgbClr val="0B5FA5"/>
                </a:solidFill>
                <a:latin typeface="Aptos"/>
              </a:rPr>
              <a:t>preanalizzati</a:t>
            </a:r>
            <a:r>
              <a:rPr lang="it-IT" sz="1376" b="1" i="0" dirty="0">
                <a:solidFill>
                  <a:srgbClr val="0B5FA5"/>
                </a:solidFill>
                <a:latin typeface="Aptos"/>
              </a:rPr>
              <a:t>; Python/</a:t>
            </a:r>
            <a:r>
              <a:rPr lang="it-IT" sz="1376" b="1" i="0" dirty="0" err="1">
                <a:solidFill>
                  <a:srgbClr val="0B5FA5"/>
                </a:solidFill>
                <a:latin typeface="Aptos"/>
              </a:rPr>
              <a:t>PyROOT</a:t>
            </a:r>
            <a:r>
              <a:rPr lang="it-IT" sz="1376" b="1" i="0" dirty="0">
                <a:solidFill>
                  <a:srgbClr val="0B5FA5"/>
                </a:solidFill>
                <a:latin typeface="Aptos"/>
              </a:rPr>
              <a:t> filtra gli eventi.</a:t>
            </a:r>
          </a:p>
        </p:txBody>
      </p:sp>
      <p:sp>
        <p:nvSpPr>
          <p:cNvPr id="6" name="Fill 6"/>
          <p:cNvSpPr/>
          <p:nvPr/>
        </p:nvSpPr>
        <p:spPr>
          <a:xfrm>
            <a:off x="667512" y="2258568"/>
            <a:ext cx="3374136" cy="804672"/>
          </a:xfrm>
          <a:prstGeom prst="round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7" name="Text 7"/>
          <p:cNvSpPr txBox="1"/>
          <p:nvPr/>
        </p:nvSpPr>
        <p:spPr>
          <a:xfrm>
            <a:off x="832104" y="2350008"/>
            <a:ext cx="3054096" cy="576072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it-IT" sz="1280" b="0" i="0">
                <a:solidFill>
                  <a:srgbClr val="FFFFFF"/>
                </a:solidFill>
                <a:latin typeface="Aptos"/>
              </a:rPr>
              <a:t>auto* cut = RequireCut("Proton","Cnt",Idrun);</a:t>
            </a:r>
          </a:p>
          <a:p>
            <a:pPr algn="l"/>
            <a:r>
              <a:rPr lang="it-IT" sz="1280" b="0" i="0">
                <a:solidFill>
                  <a:srgbClr val="FFFFFF"/>
                </a:solidFill>
                <a:latin typeface="Aptos"/>
              </a:rPr>
              <a:t>cut-&gt;IsInside(Eclusc_track[i],</a:t>
            </a:r>
          </a:p>
          <a:p>
            <a:pPr algn="l"/>
            <a:r>
              <a:rPr lang="it-IT" sz="1280" b="0" i="0">
                <a:solidFill>
                  <a:srgbClr val="FFFFFF"/>
                </a:solidFill>
                <a:latin typeface="Aptos"/>
              </a:rPr>
              <a:t>              Dedx_track[i]);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4123944" y="2368296"/>
            <a:ext cx="411480" cy="585216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it-IT" sz="2408" b="1" i="0">
                <a:solidFill>
                  <a:srgbClr val="0B5FA5"/>
                </a:solidFill>
                <a:latin typeface="Aptos"/>
              </a:rPr>
              <a:t>→</a:t>
            </a:r>
          </a:p>
        </p:txBody>
      </p:sp>
      <p:sp>
        <p:nvSpPr>
          <p:cNvPr id="9" name="Fill 9"/>
          <p:cNvSpPr/>
          <p:nvPr/>
        </p:nvSpPr>
        <p:spPr>
          <a:xfrm>
            <a:off x="4608576" y="2258568"/>
            <a:ext cx="3877056" cy="804672"/>
          </a:xfrm>
          <a:prstGeom prst="roundRect">
            <a:avLst/>
          </a:prstGeom>
          <a:solidFill>
            <a:srgbClr val="DDEFFA"/>
          </a:solidFill>
          <a:ln>
            <a:noFill/>
          </a:ln>
        </p:spPr>
      </p:sp>
      <p:sp>
        <p:nvSpPr>
          <p:cNvPr id="10" name="Text 10"/>
          <p:cNvSpPr txBox="1"/>
          <p:nvPr/>
        </p:nvSpPr>
        <p:spPr>
          <a:xfrm>
            <a:off x="4754880" y="2331720"/>
            <a:ext cx="3602736" cy="640080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it-IT" sz="1500" b="0" i="0" dirty="0">
                <a:solidFill>
                  <a:srgbClr val="112642"/>
                </a:solidFill>
                <a:latin typeface="Aptos"/>
              </a:rPr>
              <a:t>I poligoni PID del </a:t>
            </a:r>
            <a:r>
              <a:rPr lang="it-IT" sz="1500" b="0" i="0" dirty="0" err="1">
                <a:solidFill>
                  <a:srgbClr val="112642"/>
                </a:solidFill>
                <a:latin typeface="Aptos"/>
              </a:rPr>
              <a:t>run</a:t>
            </a:r>
            <a:r>
              <a:rPr lang="it-IT" sz="1500" b="0" i="0" dirty="0">
                <a:solidFill>
                  <a:srgbClr val="112642"/>
                </a:solidFill>
                <a:latin typeface="Aptos"/>
              </a:rPr>
              <a:t> classificano le tracce centrali.</a:t>
            </a:r>
          </a:p>
        </p:txBody>
      </p:sp>
      <p:sp>
        <p:nvSpPr>
          <p:cNvPr id="11" name="Fill 11"/>
          <p:cNvSpPr/>
          <p:nvPr/>
        </p:nvSpPr>
        <p:spPr>
          <a:xfrm>
            <a:off x="667512" y="3255264"/>
            <a:ext cx="3374136" cy="950976"/>
          </a:xfrm>
          <a:prstGeom prst="round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2" name="Text 12"/>
          <p:cNvSpPr txBox="1"/>
          <p:nvPr/>
        </p:nvSpPr>
        <p:spPr>
          <a:xfrm>
            <a:off x="832104" y="3310128"/>
            <a:ext cx="3054096" cy="859536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it-IT" sz="1230" b="0" i="0">
                <a:solidFill>
                  <a:srgbClr val="FFFFFF"/>
                </a:solidFill>
                <a:latin typeface="Aptos"/>
              </a:rPr>
              <a:t>selected = frame.Filter(</a:t>
            </a:r>
          </a:p>
          <a:p>
            <a:pPr algn="l"/>
            <a:r>
              <a:rPr lang="it-IT" sz="1230" b="0" i="0">
                <a:solidFill>
                  <a:srgbClr val="FFFFFF"/>
                </a:solidFill>
                <a:latin typeface="Aptos"/>
              </a:rPr>
              <a:t>  "gammas.size() &gt; 1 &amp;&amp;"</a:t>
            </a:r>
          </a:p>
          <a:p>
            <a:pPr algn="l"/>
            <a:r>
              <a:rPr lang="it-IT" sz="1230" b="0" i="0">
                <a:solidFill>
                  <a:srgbClr val="FFFFFF"/>
                </a:solidFill>
                <a:latin typeface="Aptos"/>
              </a:rPr>
              <a:t>  " fcharged_theta.size() == 1")</a:t>
            </a:r>
          </a:p>
          <a:p>
            <a:pPr algn="l"/>
            <a:r>
              <a:rPr lang="it-IT" sz="1230" b="0" i="0">
                <a:solidFill>
                  <a:srgbClr val="FFFFFF"/>
                </a:solidFill>
                <a:latin typeface="Aptos"/>
              </a:rPr>
              <a:t>selected.Snapshot("h85", ...)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4123944" y="3438144"/>
            <a:ext cx="411480" cy="585216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it-IT" sz="2408" b="1" i="0">
                <a:solidFill>
                  <a:srgbClr val="0B5FA5"/>
                </a:solidFill>
                <a:latin typeface="Aptos"/>
              </a:rPr>
              <a:t>→</a:t>
            </a:r>
          </a:p>
        </p:txBody>
      </p:sp>
      <p:sp>
        <p:nvSpPr>
          <p:cNvPr id="14" name="Fill 14"/>
          <p:cNvSpPr/>
          <p:nvPr/>
        </p:nvSpPr>
        <p:spPr>
          <a:xfrm>
            <a:off x="4608576" y="3255264"/>
            <a:ext cx="3877056" cy="950976"/>
          </a:xfrm>
          <a:prstGeom prst="roundRect">
            <a:avLst/>
          </a:prstGeom>
          <a:solidFill>
            <a:srgbClr val="DDEFFA"/>
          </a:solidFill>
          <a:ln>
            <a:noFill/>
          </a:ln>
        </p:spPr>
      </p:sp>
      <p:sp>
        <p:nvSpPr>
          <p:cNvPr id="15" name="Text 15"/>
          <p:cNvSpPr txBox="1"/>
          <p:nvPr/>
        </p:nvSpPr>
        <p:spPr>
          <a:xfrm>
            <a:off x="4754880" y="3337560"/>
            <a:ext cx="3602736" cy="777240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it-IT" sz="1450" b="0" i="0" dirty="0">
                <a:solidFill>
                  <a:srgbClr val="112642"/>
                </a:solidFill>
                <a:latin typeface="Aptos"/>
              </a:rPr>
              <a:t>La preselezione richiede almeno 2 fotoni e una traccia carica in avanti. I file selezionati conservano tutti i rami; i 4 fotoni si richiedono più avanti.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685800" y="4315968"/>
            <a:ext cx="7818120" cy="256032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1400" b="0" i="0" dirty="0" err="1">
                <a:solidFill>
                  <a:srgbClr val="52657B"/>
                </a:solidFill>
                <a:latin typeface="Aptos"/>
              </a:rPr>
              <a:t>Quadrimpulsi</a:t>
            </a:r>
            <a:r>
              <a:rPr lang="it-IT" sz="1400" dirty="0">
                <a:solidFill>
                  <a:srgbClr val="52657B"/>
                </a:solidFill>
                <a:latin typeface="Aptos"/>
              </a:rPr>
              <a:t> delle </a:t>
            </a:r>
            <a:r>
              <a:rPr lang="it-IT" sz="1400" dirty="0" err="1">
                <a:solidFill>
                  <a:srgbClr val="52657B"/>
                </a:solidFill>
                <a:latin typeface="Aptos"/>
              </a:rPr>
              <a:t>perticelle</a:t>
            </a:r>
            <a:r>
              <a:rPr lang="it-IT" sz="1400" dirty="0">
                <a:solidFill>
                  <a:srgbClr val="52657B"/>
                </a:solidFill>
                <a:latin typeface="Aptos"/>
              </a:rPr>
              <a:t> di interesse, </a:t>
            </a:r>
            <a:r>
              <a:rPr lang="it-IT" sz="1400" b="0" i="0" dirty="0" err="1">
                <a:solidFill>
                  <a:srgbClr val="52657B"/>
                </a:solidFill>
                <a:latin typeface="Aptos"/>
              </a:rPr>
              <a:t>RunNumber</a:t>
            </a:r>
            <a:r>
              <a:rPr lang="it-IT" sz="1400" b="0" i="0" dirty="0">
                <a:solidFill>
                  <a:srgbClr val="52657B"/>
                </a:solidFill>
                <a:latin typeface="Aptos"/>
              </a:rPr>
              <a:t>, </a:t>
            </a:r>
            <a:r>
              <a:rPr lang="it-IT" sz="1400" b="0" i="0" dirty="0" err="1">
                <a:solidFill>
                  <a:srgbClr val="52657B"/>
                </a:solidFill>
                <a:latin typeface="Aptos"/>
              </a:rPr>
              <a:t>Polarization</a:t>
            </a:r>
            <a:r>
              <a:rPr lang="it-IT" sz="1400" b="0" i="0" dirty="0">
                <a:solidFill>
                  <a:srgbClr val="52657B"/>
                </a:solidFill>
                <a:latin typeface="Aptos"/>
              </a:rPr>
              <a:t> e </a:t>
            </a:r>
            <a:r>
              <a:rPr lang="it-IT" sz="1400" b="0" i="0" dirty="0" err="1">
                <a:solidFill>
                  <a:srgbClr val="52657B"/>
                </a:solidFill>
                <a:latin typeface="Aptos"/>
              </a:rPr>
              <a:t>Xstrip</a:t>
            </a:r>
            <a:r>
              <a:rPr lang="it-IT" sz="1400" b="0" i="0" dirty="0">
                <a:solidFill>
                  <a:srgbClr val="52657B"/>
                </a:solidFill>
                <a:latin typeface="Aptos"/>
              </a:rPr>
              <a:t>.</a:t>
            </a:r>
          </a:p>
        </p:txBody>
      </p:sp>
      <p:sp>
        <p:nvSpPr>
          <p:cNvPr id="17" name="Fill 17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8" name="Fill 18"/>
          <p:cNvSpPr/>
          <p:nvPr/>
        </p:nvSpPr>
        <p:spPr>
          <a:xfrm>
            <a:off x="0" y="0"/>
            <a:ext cx="2151529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9" name="Text 19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20" name="Fill 20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21" name="Fill 21"/>
          <p:cNvSpPr/>
          <p:nvPr/>
        </p:nvSpPr>
        <p:spPr>
          <a:xfrm>
            <a:off x="0" y="4882896"/>
            <a:ext cx="2151529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22" name="Text 22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DATI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04/17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Ricostruzione dei candidati pηπ⁰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05_reconstruction/runtime/reco_core.py; core/event_logic.py; 00_common/physics/pairing.py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76656" y="950976"/>
            <a:ext cx="7827264" cy="530352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1376" b="0" i="0">
                <a:solidFill>
                  <a:srgbClr val="112642"/>
                </a:solidFill>
                <a:latin typeface="Aptos"/>
              </a:rPr>
              <a:t>Dagli eventi h85 ricostruiamo η → γγ e π⁰ → γγ. I percorsi standard e BDT usano lo stesso algoritmo: nel secondo, il classificatore seleziona gli eventi prima del pairing.</a:t>
            </a:r>
          </a:p>
        </p:txBody>
      </p:sp>
      <p:sp>
        <p:nvSpPr>
          <p:cNvPr id="5" name="Fill 5"/>
          <p:cNvSpPr/>
          <p:nvPr/>
        </p:nvSpPr>
        <p:spPr>
          <a:xfrm>
            <a:off x="667512" y="1618488"/>
            <a:ext cx="3657600" cy="704088"/>
          </a:xfrm>
          <a:prstGeom prst="round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6" name="Text 6"/>
          <p:cNvSpPr txBox="1"/>
          <p:nvPr/>
        </p:nvSpPr>
        <p:spPr>
          <a:xfrm>
            <a:off x="832104" y="1746504"/>
            <a:ext cx="3337560" cy="484632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it-IT" sz="1270" b="0" i="0" dirty="0" err="1">
                <a:solidFill>
                  <a:srgbClr val="FFFFFF"/>
                </a:solidFill>
                <a:latin typeface="Aptos"/>
              </a:rPr>
              <a:t>if</a:t>
            </a:r>
            <a:r>
              <a:rPr lang="it-IT" sz="1270" b="0" i="0" dirty="0">
                <a:solidFill>
                  <a:srgbClr val="FFFFFF"/>
                </a:solidFill>
                <a:latin typeface="Aptos"/>
              </a:rPr>
              <a:t> </a:t>
            </a:r>
            <a:r>
              <a:rPr lang="it-IT" sz="1270" b="0" i="0" dirty="0" err="1">
                <a:solidFill>
                  <a:srgbClr val="FFFFFF"/>
                </a:solidFill>
                <a:latin typeface="Aptos"/>
              </a:rPr>
              <a:t>chain.gammas.size</a:t>
            </a:r>
            <a:r>
              <a:rPr lang="it-IT" sz="1270" b="0" i="0" dirty="0">
                <a:solidFill>
                  <a:srgbClr val="FFFFFF"/>
                </a:solidFill>
                <a:latin typeface="Aptos"/>
              </a:rPr>
              <a:t>() </a:t>
            </a:r>
            <a:r>
              <a:rPr lang="it-IT" sz="1270" dirty="0">
                <a:solidFill>
                  <a:srgbClr val="FFFFFF"/>
                </a:solidFill>
                <a:latin typeface="Aptos"/>
              </a:rPr>
              <a:t>==</a:t>
            </a:r>
            <a:r>
              <a:rPr lang="it-IT" sz="1270" b="0" i="0" dirty="0">
                <a:solidFill>
                  <a:srgbClr val="FFFFFF"/>
                </a:solidFill>
                <a:latin typeface="Aptos"/>
              </a:rPr>
              <a:t> 4: continue</a:t>
            </a:r>
          </a:p>
          <a:p>
            <a:pPr algn="l"/>
            <a:r>
              <a:rPr lang="it-IT" sz="1270" b="0" i="0" dirty="0" err="1">
                <a:solidFill>
                  <a:srgbClr val="FFFFFF"/>
                </a:solidFill>
                <a:latin typeface="Aptos"/>
              </a:rPr>
              <a:t>if</a:t>
            </a:r>
            <a:r>
              <a:rPr lang="it-IT" sz="1270" b="0" i="0" dirty="0">
                <a:solidFill>
                  <a:srgbClr val="FFFFFF"/>
                </a:solidFill>
                <a:latin typeface="Aptos"/>
              </a:rPr>
              <a:t> </a:t>
            </a:r>
            <a:r>
              <a:rPr lang="it-IT" sz="1270" b="0" i="0" dirty="0" err="1">
                <a:solidFill>
                  <a:srgbClr val="FFFFFF"/>
                </a:solidFill>
                <a:latin typeface="Aptos"/>
              </a:rPr>
              <a:t>chain.protons.size</a:t>
            </a:r>
            <a:r>
              <a:rPr lang="it-IT" sz="1270" b="0" i="0" dirty="0">
                <a:solidFill>
                  <a:srgbClr val="FFFFFF"/>
                </a:solidFill>
                <a:latin typeface="Aptos"/>
              </a:rPr>
              <a:t>() == 1: continue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4389120" y="1682496"/>
            <a:ext cx="338328" cy="566928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it-IT" sz="2322" b="1" i="0">
                <a:solidFill>
                  <a:srgbClr val="0B5FA5"/>
                </a:solidFill>
                <a:latin typeface="Aptos"/>
              </a:rPr>
              <a:t>→</a:t>
            </a:r>
          </a:p>
        </p:txBody>
      </p:sp>
      <p:sp>
        <p:nvSpPr>
          <p:cNvPr id="8" name="Fill 8"/>
          <p:cNvSpPr/>
          <p:nvPr/>
        </p:nvSpPr>
        <p:spPr>
          <a:xfrm>
            <a:off x="4773168" y="1618488"/>
            <a:ext cx="3694176" cy="704088"/>
          </a:xfrm>
          <a:prstGeom prst="roundRect">
            <a:avLst/>
          </a:prstGeom>
          <a:solidFill>
            <a:srgbClr val="DDEFFA"/>
          </a:solidFill>
          <a:ln>
            <a:noFill/>
          </a:ln>
        </p:spPr>
      </p:sp>
      <p:sp>
        <p:nvSpPr>
          <p:cNvPr id="9" name="Text 9"/>
          <p:cNvSpPr txBox="1"/>
          <p:nvPr/>
        </p:nvSpPr>
        <p:spPr>
          <a:xfrm>
            <a:off x="4919472" y="1682496"/>
            <a:ext cx="3401568" cy="557784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it-IT" sz="1440" b="0" i="0" dirty="0">
                <a:solidFill>
                  <a:srgbClr val="112642"/>
                </a:solidFill>
                <a:latin typeface="Aptos"/>
              </a:rPr>
              <a:t>Servono almeno quattro fotoni e un solo protone.</a:t>
            </a:r>
          </a:p>
        </p:txBody>
      </p:sp>
      <p:sp>
        <p:nvSpPr>
          <p:cNvPr id="10" name="Fill 10"/>
          <p:cNvSpPr/>
          <p:nvPr/>
        </p:nvSpPr>
        <p:spPr>
          <a:xfrm>
            <a:off x="667512" y="2459736"/>
            <a:ext cx="3657600" cy="914400"/>
          </a:xfrm>
          <a:prstGeom prst="round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1" name="Text 11"/>
          <p:cNvSpPr txBox="1"/>
          <p:nvPr/>
        </p:nvSpPr>
        <p:spPr>
          <a:xfrm>
            <a:off x="832104" y="2551176"/>
            <a:ext cx="3337560" cy="731520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it-IT" sz="1240" b="0" i="0">
                <a:solidFill>
                  <a:srgbClr val="FFFFFF"/>
                </a:solidFill>
                <a:latin typeface="Aptos"/>
              </a:rPr>
              <a:t>pairing, chi2_value = pairing_fn(</a:t>
            </a:r>
          </a:p>
          <a:p>
            <a:pPr algn="l"/>
            <a:r>
              <a:rPr lang="it-IT" sz="1240" b="0" i="0">
                <a:solidFill>
                  <a:srgbClr val="FFFFFF"/>
                </a:solidFill>
                <a:latin typeface="Aptos"/>
              </a:rPr>
              <a:t>    event.photons, channel.hypothesis)</a:t>
            </a:r>
          </a:p>
          <a:p>
            <a:pPr algn="l"/>
            <a:r>
              <a:rPr lang="it-IT" sz="1240" b="0" i="0">
                <a:solidFill>
                  <a:srgbClr val="FFFFFF"/>
                </a:solidFill>
                <a:latin typeface="Aptos"/>
              </a:rPr>
              <a:t>if chi2_value &gt;= config.chi2_cut:</a:t>
            </a:r>
          </a:p>
          <a:p>
            <a:pPr algn="l"/>
            <a:r>
              <a:rPr lang="it-IT" sz="1240" b="0" i="0">
                <a:solidFill>
                  <a:srgbClr val="FFFFFF"/>
                </a:solidFill>
                <a:latin typeface="Aptos"/>
              </a:rPr>
              <a:t>    return RejectionReason.CHI_SQUARE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4389120" y="2624328"/>
            <a:ext cx="338328" cy="566928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it-IT" sz="2322" b="1" i="0">
                <a:solidFill>
                  <a:srgbClr val="0B5FA5"/>
                </a:solidFill>
                <a:latin typeface="Aptos"/>
              </a:rPr>
              <a:t>→</a:t>
            </a:r>
          </a:p>
        </p:txBody>
      </p:sp>
      <p:sp>
        <p:nvSpPr>
          <p:cNvPr id="13" name="Fill 13"/>
          <p:cNvSpPr/>
          <p:nvPr/>
        </p:nvSpPr>
        <p:spPr>
          <a:xfrm>
            <a:off x="4773168" y="2459736"/>
            <a:ext cx="3694176" cy="914400"/>
          </a:xfrm>
          <a:prstGeom prst="roundRect">
            <a:avLst/>
          </a:prstGeom>
          <a:solidFill>
            <a:srgbClr val="DDEFFA"/>
          </a:solidFill>
          <a:ln>
            <a:noFill/>
          </a:ln>
        </p:spPr>
      </p:sp>
      <p:sp>
        <p:nvSpPr>
          <p:cNvPr id="14" name="Text 14"/>
          <p:cNvSpPr txBox="1"/>
          <p:nvPr/>
        </p:nvSpPr>
        <p:spPr>
          <a:xfrm>
            <a:off x="4919472" y="2532888"/>
            <a:ext cx="3401568" cy="768096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it-IT" sz="1420" b="0" i="0" dirty="0">
                <a:solidFill>
                  <a:srgbClr val="112642"/>
                </a:solidFill>
                <a:latin typeface="Aptos"/>
              </a:rPr>
              <a:t>Tre partizioni dei fotoni, con due assegnazioni ciascuna, danno sei ipotesi </a:t>
            </a:r>
            <a:r>
              <a:rPr lang="it-IT" sz="1420" b="0" i="0" dirty="0" err="1">
                <a:solidFill>
                  <a:srgbClr val="112642"/>
                </a:solidFill>
                <a:latin typeface="Aptos"/>
              </a:rPr>
              <a:t>η</a:t>
            </a:r>
            <a:r>
              <a:rPr lang="it-IT" sz="1420" b="0" i="0" dirty="0">
                <a:solidFill>
                  <a:srgbClr val="112642"/>
                </a:solidFill>
                <a:latin typeface="Aptos"/>
              </a:rPr>
              <a:t>π⁰. Scegliamo quella più vicina alle masse nominali: χ² &lt; 10.</a:t>
            </a:r>
          </a:p>
        </p:txBody>
      </p:sp>
      <p:sp>
        <p:nvSpPr>
          <p:cNvPr id="15" name="Fill 15"/>
          <p:cNvSpPr/>
          <p:nvPr/>
        </p:nvSpPr>
        <p:spPr>
          <a:xfrm>
            <a:off x="667512" y="3511296"/>
            <a:ext cx="3657600" cy="832104"/>
          </a:xfrm>
          <a:prstGeom prst="round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6" name="Text 16"/>
          <p:cNvSpPr txBox="1"/>
          <p:nvPr/>
        </p:nvSpPr>
        <p:spPr>
          <a:xfrm>
            <a:off x="832104" y="3648456"/>
            <a:ext cx="3337560" cy="548640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it-IT" sz="1270" b="0" i="0">
                <a:solidFill>
                  <a:srgbClr val="FFFFFF"/>
                </a:solidFill>
                <a:latin typeface="Aptos"/>
              </a:rPr>
              <a:t>heavy = photons[0] + photons[1]</a:t>
            </a:r>
          </a:p>
          <a:p>
            <a:pPr algn="l"/>
            <a:r>
              <a:rPr lang="it-IT" sz="1270" b="0" i="0">
                <a:solidFill>
                  <a:srgbClr val="FFFFFF"/>
                </a:solidFill>
                <a:latin typeface="Aptos"/>
              </a:rPr>
              <a:t>light = photons[2] + photons[3]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4389120" y="3630168"/>
            <a:ext cx="338328" cy="566928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it-IT" sz="2322" b="1" i="0">
                <a:solidFill>
                  <a:srgbClr val="0B5FA5"/>
                </a:solidFill>
                <a:latin typeface="Aptos"/>
              </a:rPr>
              <a:t>→</a:t>
            </a:r>
          </a:p>
        </p:txBody>
      </p:sp>
      <p:sp>
        <p:nvSpPr>
          <p:cNvPr id="18" name="Fill 18"/>
          <p:cNvSpPr/>
          <p:nvPr/>
        </p:nvSpPr>
        <p:spPr>
          <a:xfrm>
            <a:off x="4773168" y="3511296"/>
            <a:ext cx="3694176" cy="832104"/>
          </a:xfrm>
          <a:prstGeom prst="roundRect">
            <a:avLst/>
          </a:prstGeom>
          <a:solidFill>
            <a:srgbClr val="DDEFFA"/>
          </a:solidFill>
          <a:ln>
            <a:noFill/>
          </a:ln>
        </p:spPr>
      </p:sp>
      <p:sp>
        <p:nvSpPr>
          <p:cNvPr id="19" name="Text 19"/>
          <p:cNvSpPr txBox="1"/>
          <p:nvPr/>
        </p:nvSpPr>
        <p:spPr>
          <a:xfrm>
            <a:off x="4919472" y="3584448"/>
            <a:ext cx="3401568" cy="685800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it-IT" sz="1420" b="0" i="0">
                <a:solidFill>
                  <a:srgbClr val="112642"/>
                </a:solidFill>
                <a:latin typeface="Aptos"/>
              </a:rPr>
              <a:t>Sommiamo i quadrivettori per ottenere η e π⁰. Scartiamo energie incompatibili con il fascio; salviamo masse, χ² e dati del run.</a:t>
            </a:r>
          </a:p>
        </p:txBody>
      </p:sp>
      <p:sp>
        <p:nvSpPr>
          <p:cNvPr id="20" name="Fill 20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21" name="Fill 21"/>
          <p:cNvSpPr/>
          <p:nvPr/>
        </p:nvSpPr>
        <p:spPr>
          <a:xfrm>
            <a:off x="0" y="0"/>
            <a:ext cx="2689412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22" name="Text 22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23" name="Fill 23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24" name="Fill 24"/>
          <p:cNvSpPr/>
          <p:nvPr/>
        </p:nvSpPr>
        <p:spPr>
          <a:xfrm>
            <a:off x="0" y="4882896"/>
            <a:ext cx="2689412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25" name="Text 25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RICOSTRUZIONE</a:t>
            </a:r>
          </a:p>
        </p:txBody>
      </p:sp>
      <p:sp>
        <p:nvSpPr>
          <p:cNvPr id="26" name="Text 26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05/17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Simulazione Monte Carlo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03_mc_simulation/generators/generate_eta_pi0_dataset.C e smearing.h; 04_bdt_training/dataset/mc_samples.py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76656" y="932688"/>
            <a:ext cx="7818120" cy="438912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1350" b="0" i="0">
                <a:solidFill>
                  <a:srgbClr val="112642"/>
                </a:solidFill>
                <a:latin typeface="Aptos"/>
              </a:rPr>
              <a:t>I generatori descrivono produzione e decadimenti. Prima del training, applichiamo una risposta strumentale semplificata e selezioniamo gli eventi con quattro fotoni osservabili.</a:t>
            </a:r>
          </a:p>
        </p:txBody>
      </p:sp>
      <p:sp>
        <p:nvSpPr>
          <p:cNvPr id="5" name="Fill 5"/>
          <p:cNvSpPr/>
          <p:nvPr/>
        </p:nvSpPr>
        <p:spPr>
          <a:xfrm>
            <a:off x="667512" y="1444752"/>
            <a:ext cx="3657600" cy="658368"/>
          </a:xfrm>
          <a:prstGeom prst="round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6" name="Text 6"/>
          <p:cNvSpPr txBox="1"/>
          <p:nvPr/>
        </p:nvSpPr>
        <p:spPr>
          <a:xfrm>
            <a:off x="832104" y="1490472"/>
            <a:ext cx="3337560" cy="566928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it-IT" sz="1210" b="0" i="0">
                <a:solidFill>
                  <a:srgbClr val="FFFFFF"/>
                </a:solidFill>
                <a:latin typeface="Aptos"/>
              </a:rPr>
              <a:t>const BeamWindow beam_window =</a:t>
            </a:r>
          </a:p>
          <a:p>
            <a:pPr algn="l"/>
            <a:r>
              <a:rPr lang="it-IT" sz="1210" b="0" i="0">
                <a:solidFill>
                  <a:srgbClr val="FFFFFF"/>
                </a:solidFill>
                <a:latin typeface="Aptos"/>
              </a:rPr>
              <a:t>  ResolveBeamWindow(threshold,</a:t>
            </a:r>
          </a:p>
          <a:p>
            <a:pPr algn="l"/>
            <a:r>
              <a:rPr lang="it-IT" sz="1210" b="0" i="0">
                <a:solidFill>
                  <a:srgbClr val="FFFFFF"/>
                </a:solidFill>
                <a:latin typeface="Aptos"/>
              </a:rPr>
              <a:t>    requested_min_gev, requested_max_gev);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4389120" y="1499616"/>
            <a:ext cx="338328" cy="530352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it-IT" sz="2236" b="1" i="0">
                <a:solidFill>
                  <a:srgbClr val="0B5FA5"/>
                </a:solidFill>
                <a:latin typeface="Aptos"/>
              </a:rPr>
              <a:t>→</a:t>
            </a:r>
          </a:p>
        </p:txBody>
      </p:sp>
      <p:sp>
        <p:nvSpPr>
          <p:cNvPr id="8" name="Fill 8"/>
          <p:cNvSpPr/>
          <p:nvPr/>
        </p:nvSpPr>
        <p:spPr>
          <a:xfrm>
            <a:off x="4773168" y="1444752"/>
            <a:ext cx="3694176" cy="658368"/>
          </a:xfrm>
          <a:prstGeom prst="roundRect">
            <a:avLst/>
          </a:prstGeom>
          <a:solidFill>
            <a:srgbClr val="DDEFFA"/>
          </a:solidFill>
          <a:ln>
            <a:noFill/>
          </a:ln>
        </p:spPr>
      </p:sp>
      <p:sp>
        <p:nvSpPr>
          <p:cNvPr id="9" name="Text 9"/>
          <p:cNvSpPr txBox="1"/>
          <p:nvPr/>
        </p:nvSpPr>
        <p:spPr>
          <a:xfrm>
            <a:off x="4919472" y="1490472"/>
            <a:ext cx="3401568" cy="566928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it-IT" sz="1340" b="0" i="0">
                <a:solidFill>
                  <a:srgbClr val="112642"/>
                </a:solidFill>
                <a:latin typeface="Aptos"/>
              </a:rPr>
              <a:t>Estraiamo l'energia uniformemente dalla soglia fisica a 1,75 GeV (limite predefinito); la finestra VIS si ferma a 1,10 GeV.</a:t>
            </a:r>
          </a:p>
        </p:txBody>
      </p:sp>
      <p:sp>
        <p:nvSpPr>
          <p:cNvPr id="10" name="Fill 10"/>
          <p:cNvSpPr/>
          <p:nvPr/>
        </p:nvSpPr>
        <p:spPr>
          <a:xfrm>
            <a:off x="667512" y="2194560"/>
            <a:ext cx="3657600" cy="658368"/>
          </a:xfrm>
          <a:prstGeom prst="round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1" name="Text 11"/>
          <p:cNvSpPr txBox="1"/>
          <p:nvPr/>
        </p:nvSpPr>
        <p:spPr>
          <a:xfrm>
            <a:off x="832104" y="2240280"/>
            <a:ext cx="3337560" cy="566928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it-IT" sz="1210" b="0" i="0">
                <a:solidFill>
                  <a:srgbClr val="FFFFFF"/>
                </a:solidFill>
                <a:latin typeface="Aptos"/>
              </a:rPr>
              <a:t>if (!event.SetDecay(W, 3, masses))</a:t>
            </a:r>
          </a:p>
          <a:p>
            <a:pPr algn="l"/>
            <a:r>
              <a:rPr lang="it-IT" sz="1210" b="0" i="0">
                <a:solidFill>
                  <a:srgbClr val="FFFFFF"/>
                </a:solidFill>
                <a:latin typeface="Aptos"/>
              </a:rPr>
              <a:t>    continue;</a:t>
            </a:r>
          </a:p>
          <a:p>
            <a:pPr algn="l"/>
            <a:r>
              <a:rPr lang="it-IT" sz="1210" b="0" i="0">
                <a:solidFill>
                  <a:srgbClr val="FFFFFF"/>
                </a:solidFill>
                <a:latin typeface="Aptos"/>
              </a:rPr>
              <a:t>GenerateUnweighted(event, rng);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4389120" y="2249424"/>
            <a:ext cx="338328" cy="530352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it-IT" sz="2236" b="1" i="0">
                <a:solidFill>
                  <a:srgbClr val="0B5FA5"/>
                </a:solidFill>
                <a:latin typeface="Aptos"/>
              </a:rPr>
              <a:t>→</a:t>
            </a:r>
          </a:p>
        </p:txBody>
      </p:sp>
      <p:sp>
        <p:nvSpPr>
          <p:cNvPr id="13" name="Fill 13"/>
          <p:cNvSpPr/>
          <p:nvPr/>
        </p:nvSpPr>
        <p:spPr>
          <a:xfrm>
            <a:off x="4773168" y="2194560"/>
            <a:ext cx="3694176" cy="658368"/>
          </a:xfrm>
          <a:prstGeom prst="roundRect">
            <a:avLst/>
          </a:prstGeom>
          <a:solidFill>
            <a:srgbClr val="DDEFFA"/>
          </a:solidFill>
          <a:ln>
            <a:noFill/>
          </a:ln>
        </p:spPr>
      </p:sp>
      <p:sp>
        <p:nvSpPr>
          <p:cNvPr id="14" name="Text 14"/>
          <p:cNvSpPr txBox="1"/>
          <p:nvPr/>
        </p:nvSpPr>
        <p:spPr>
          <a:xfrm>
            <a:off x="4919472" y="2240280"/>
            <a:ext cx="3401568" cy="566928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it-IT" sz="1360" b="0" i="0">
                <a:solidFill>
                  <a:srgbClr val="112642"/>
                </a:solidFill>
                <a:latin typeface="Aptos"/>
              </a:rPr>
              <a:t>TGenPhaseSpace genera pηπ⁰ senza pesi finali; η e π⁰ decadono poi in due fotoni ciascuno.</a:t>
            </a:r>
          </a:p>
        </p:txBody>
      </p:sp>
      <p:sp>
        <p:nvSpPr>
          <p:cNvPr id="15" name="Fill 15"/>
          <p:cNvSpPr/>
          <p:nvPr/>
        </p:nvSpPr>
        <p:spPr>
          <a:xfrm>
            <a:off x="667512" y="2944368"/>
            <a:ext cx="3657600" cy="658368"/>
          </a:xfrm>
          <a:prstGeom prst="round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6" name="Text 16"/>
          <p:cNvSpPr txBox="1"/>
          <p:nvPr/>
        </p:nvSpPr>
        <p:spPr>
          <a:xfrm>
            <a:off x="832104" y="2990088"/>
            <a:ext cx="3337560" cy="566928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it-IT" sz="1210" b="0" i="0">
                <a:solidFill>
                  <a:srgbClr val="FFFFFF"/>
                </a:solidFill>
                <a:latin typeface="Aptos"/>
              </a:rPr>
              <a:t>constexpr double kTaggerFwhmGeV = 0.016;</a:t>
            </a:r>
          </a:p>
          <a:p>
            <a:pPr algn="l"/>
            <a:r>
              <a:rPr lang="it-IT" sz="1210" b="0" i="0">
                <a:solidFill>
                  <a:srgbClr val="FFFFFF"/>
                </a:solidFill>
                <a:latin typeface="Aptos"/>
              </a:rPr>
              <a:t>beam = SmearTaggedPhoton(Ebeam, rng);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4389120" y="2999232"/>
            <a:ext cx="338328" cy="530352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it-IT" sz="2236" b="1" i="0">
                <a:solidFill>
                  <a:srgbClr val="0B5FA5"/>
                </a:solidFill>
                <a:latin typeface="Aptos"/>
              </a:rPr>
              <a:t>→</a:t>
            </a:r>
          </a:p>
        </p:txBody>
      </p:sp>
      <p:sp>
        <p:nvSpPr>
          <p:cNvPr id="18" name="Fill 18"/>
          <p:cNvSpPr/>
          <p:nvPr/>
        </p:nvSpPr>
        <p:spPr>
          <a:xfrm>
            <a:off x="4773168" y="2944368"/>
            <a:ext cx="3694176" cy="658368"/>
          </a:xfrm>
          <a:prstGeom prst="roundRect">
            <a:avLst/>
          </a:prstGeom>
          <a:solidFill>
            <a:srgbClr val="DDEFFA"/>
          </a:solidFill>
          <a:ln>
            <a:noFill/>
          </a:ln>
        </p:spPr>
      </p:sp>
      <p:sp>
        <p:nvSpPr>
          <p:cNvPr id="19" name="Text 19"/>
          <p:cNvSpPr txBox="1"/>
          <p:nvPr/>
        </p:nvSpPr>
        <p:spPr>
          <a:xfrm>
            <a:off x="4919472" y="2990088"/>
            <a:ext cx="3401568" cy="566928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it-IT" sz="1280" b="0" i="0" dirty="0">
                <a:solidFill>
                  <a:srgbClr val="112642"/>
                </a:solidFill>
                <a:latin typeface="Aptos"/>
              </a:rPr>
              <a:t>Per i fotoni assumiamo 10% in energia e 5°/3° negli angoli; per il protone 4% nell'impulso e 3°/2°. Il </a:t>
            </a:r>
            <a:r>
              <a:rPr lang="it-IT" sz="1280" b="0" i="0" dirty="0" err="1">
                <a:solidFill>
                  <a:srgbClr val="112642"/>
                </a:solidFill>
                <a:latin typeface="Aptos"/>
              </a:rPr>
              <a:t>tagger</a:t>
            </a:r>
            <a:r>
              <a:rPr lang="it-IT" sz="1280" b="0" i="0" dirty="0">
                <a:solidFill>
                  <a:srgbClr val="112642"/>
                </a:solidFill>
                <a:latin typeface="Aptos"/>
              </a:rPr>
              <a:t> ha FWHM 16 MeV.</a:t>
            </a:r>
          </a:p>
        </p:txBody>
      </p:sp>
      <p:sp>
        <p:nvSpPr>
          <p:cNvPr id="20" name="Fill 20"/>
          <p:cNvSpPr/>
          <p:nvPr/>
        </p:nvSpPr>
        <p:spPr>
          <a:xfrm>
            <a:off x="667512" y="3694176"/>
            <a:ext cx="3657600" cy="658368"/>
          </a:xfrm>
          <a:prstGeom prst="round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21" name="Text 21"/>
          <p:cNvSpPr txBox="1"/>
          <p:nvPr/>
        </p:nvSpPr>
        <p:spPr>
          <a:xfrm>
            <a:off x="832104" y="3730752"/>
            <a:ext cx="3337560" cy="594360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it-IT" sz="1060" b="0" i="0">
                <a:solidFill>
                  <a:srgbClr val="FFFFFF"/>
                </a:solidFill>
                <a:latin typeface="Aptos"/>
              </a:rPr>
              <a:t>photons_4, event_mask = sample_surviving_photons(</a:t>
            </a:r>
          </a:p>
          <a:p>
            <a:pPr algn="l"/>
            <a:r>
              <a:rPr lang="it-IT" sz="1060" b="0" i="0">
                <a:solidFill>
                  <a:srgbClr val="FFFFFF"/>
                </a:solidFill>
                <a:latin typeface="Aptos"/>
              </a:rPr>
              <a:t>    photons_all, ph_E, ph_theta, rng, params, n_keep=4</a:t>
            </a:r>
          </a:p>
          <a:p>
            <a:pPr algn="l"/>
            <a:r>
              <a:rPr lang="it-IT" sz="1060" b="0" i="0">
                <a:solidFill>
                  <a:srgbClr val="FFFFFF"/>
                </a:solidFill>
                <a:latin typeface="Aptos"/>
              </a:rPr>
              <a:t>)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4389120" y="3749040"/>
            <a:ext cx="338328" cy="530352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it-IT" sz="2236" b="1" i="0">
                <a:solidFill>
                  <a:srgbClr val="0B5FA5"/>
                </a:solidFill>
                <a:latin typeface="Aptos"/>
              </a:rPr>
              <a:t>→</a:t>
            </a:r>
          </a:p>
        </p:txBody>
      </p:sp>
      <p:sp>
        <p:nvSpPr>
          <p:cNvPr id="23" name="Fill 23"/>
          <p:cNvSpPr/>
          <p:nvPr/>
        </p:nvSpPr>
        <p:spPr>
          <a:xfrm>
            <a:off x="4773168" y="3694176"/>
            <a:ext cx="3694176" cy="658368"/>
          </a:xfrm>
          <a:prstGeom prst="roundRect">
            <a:avLst/>
          </a:prstGeom>
          <a:solidFill>
            <a:srgbClr val="DDEFFA"/>
          </a:solidFill>
          <a:ln>
            <a:noFill/>
          </a:ln>
        </p:spPr>
      </p:sp>
      <p:sp>
        <p:nvSpPr>
          <p:cNvPr id="24" name="Text 24"/>
          <p:cNvSpPr txBox="1"/>
          <p:nvPr/>
        </p:nvSpPr>
        <p:spPr>
          <a:xfrm>
            <a:off x="4919472" y="3739896"/>
            <a:ext cx="3401568" cy="566928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it-IT" sz="1340" b="0" i="0">
                <a:solidFill>
                  <a:srgbClr val="112642"/>
                </a:solidFill>
                <a:latin typeface="Aptos"/>
              </a:rPr>
              <a:t>La perdita di fotoni dipende da energia e angolo. Teniamo quattro fotoni osservati, con la stessa procedura per segnale e fondi.</a:t>
            </a:r>
          </a:p>
        </p:txBody>
      </p:sp>
      <p:sp>
        <p:nvSpPr>
          <p:cNvPr id="25" name="Fill 25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26" name="Fill 26"/>
          <p:cNvSpPr/>
          <p:nvPr/>
        </p:nvSpPr>
        <p:spPr>
          <a:xfrm>
            <a:off x="0" y="0"/>
            <a:ext cx="3227294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27" name="Text 27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28" name="Fill 28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29" name="Fill 29"/>
          <p:cNvSpPr/>
          <p:nvPr/>
        </p:nvSpPr>
        <p:spPr>
          <a:xfrm>
            <a:off x="0" y="4882896"/>
            <a:ext cx="3227294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30" name="Text 30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MONTE CARLO</a:t>
            </a:r>
          </a:p>
        </p:txBody>
      </p:sp>
      <p:sp>
        <p:nvSpPr>
          <p:cNvPr id="31" name="Text 31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06/17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Perché questi nove canali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00_common/physics/channels.py; generatori MC; 04_bdt_training/photon_loss.py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85800" y="950976"/>
            <a:ext cx="7772400" cy="530352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1376" b="0" i="0">
                <a:solidFill>
                  <a:srgbClr val="112642"/>
                </a:solidFill>
                <a:latin typeface="Aptos"/>
              </a:rPr>
              <a:t>Segnale: pηπ⁰ con η → γγ e π⁰ → γγ. Gli altri canali coprono le reazioni che possono produrre quattro fotoni osservati o imitare le masse cercate.</a:t>
            </a:r>
          </a:p>
        </p:txBody>
      </p:sp>
      <p:sp>
        <p:nvSpPr>
          <p:cNvPr id="5" name="Fill 5"/>
          <p:cNvSpPr/>
          <p:nvPr/>
        </p:nvSpPr>
        <p:spPr>
          <a:xfrm>
            <a:off x="676656" y="1618488"/>
            <a:ext cx="7790688" cy="694944"/>
          </a:xfrm>
          <a:prstGeom prst="roundRect">
            <a:avLst/>
          </a:prstGeom>
          <a:solidFill>
            <a:srgbClr val="DDEFFA"/>
          </a:solidFill>
          <a:ln>
            <a:noFill/>
          </a:ln>
        </p:spPr>
      </p:sp>
      <p:sp>
        <p:nvSpPr>
          <p:cNvPr id="6" name="Text 6"/>
          <p:cNvSpPr txBox="1"/>
          <p:nvPr/>
        </p:nvSpPr>
        <p:spPr>
          <a:xfrm>
            <a:off x="832104" y="1700784"/>
            <a:ext cx="2798064" cy="530352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it-IT" sz="1548" b="1" i="0">
                <a:solidFill>
                  <a:srgbClr val="0B5FA5"/>
                </a:solidFill>
                <a:latin typeface="Aptos"/>
              </a:rPr>
              <a:t>π⁰π⁰ · 3π⁰ · 4π⁰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3675888" y="1673352"/>
            <a:ext cx="4626864" cy="585216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it-IT" sz="1390" b="0" i="0">
                <a:solidFill>
                  <a:srgbClr val="112642"/>
                </a:solidFill>
                <a:latin typeface="Aptos"/>
              </a:rPr>
              <a:t>Il primo produce già quattro fotoni; gli altri ne producono sei o otto e possono apparire come eventi a quattro fotoni quando alcuni sfuggono al rivelatore.</a:t>
            </a:r>
          </a:p>
        </p:txBody>
      </p:sp>
      <p:sp>
        <p:nvSpPr>
          <p:cNvPr id="8" name="Fill 8"/>
          <p:cNvSpPr/>
          <p:nvPr/>
        </p:nvSpPr>
        <p:spPr>
          <a:xfrm>
            <a:off x="676656" y="2441448"/>
            <a:ext cx="7790688" cy="777240"/>
          </a:xfrm>
          <a:prstGeom prst="roundRect">
            <a:avLst/>
          </a:prstGeom>
          <a:solidFill>
            <a:srgbClr val="DDEFFA"/>
          </a:solidFill>
          <a:ln>
            <a:noFill/>
          </a:ln>
        </p:spPr>
      </p:sp>
      <p:sp>
        <p:nvSpPr>
          <p:cNvPr id="9" name="Text 9"/>
          <p:cNvSpPr txBox="1"/>
          <p:nvPr/>
        </p:nvSpPr>
        <p:spPr>
          <a:xfrm>
            <a:off x="832104" y="2523744"/>
            <a:ext cx="2798064" cy="603504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it-IT" sz="1376" b="1" i="0">
                <a:solidFill>
                  <a:srgbClr val="0B5FA5"/>
                </a:solidFill>
                <a:latin typeface="Aptos"/>
              </a:rPr>
              <a:t>η → 3π⁰ · ηπ⁰ (η → 3π⁰)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3675888" y="2496312"/>
            <a:ext cx="4626864" cy="667512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it-IT" sz="1370" b="0" i="0">
                <a:solidFill>
                  <a:srgbClr val="112642"/>
                </a:solidFill>
                <a:latin typeface="Aptos"/>
              </a:rPr>
              <a:t>La prima contiene una η reale; la seconda è la reazione del segnale con un diverso decadimento della η. Perdendo fotoni, entrambe possono contaminare il campione.</a:t>
            </a:r>
          </a:p>
        </p:txBody>
      </p:sp>
      <p:sp>
        <p:nvSpPr>
          <p:cNvPr id="11" name="Fill 11"/>
          <p:cNvSpPr/>
          <p:nvPr/>
        </p:nvSpPr>
        <p:spPr>
          <a:xfrm>
            <a:off x="676656" y="3346704"/>
            <a:ext cx="7790688" cy="768096"/>
          </a:xfrm>
          <a:prstGeom prst="roundRect">
            <a:avLst/>
          </a:prstGeom>
          <a:solidFill>
            <a:srgbClr val="DDEFFA"/>
          </a:solidFill>
          <a:ln>
            <a:noFill/>
          </a:ln>
        </p:spPr>
      </p:sp>
      <p:sp>
        <p:nvSpPr>
          <p:cNvPr id="12" name="Text 12"/>
          <p:cNvSpPr txBox="1"/>
          <p:nvPr/>
        </p:nvSpPr>
        <p:spPr>
          <a:xfrm>
            <a:off x="832104" y="3429000"/>
            <a:ext cx="2798064" cy="603504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it-IT" sz="1479" b="1" i="0">
                <a:solidFill>
                  <a:srgbClr val="0B5FA5"/>
                </a:solidFill>
                <a:latin typeface="Aptos"/>
              </a:rPr>
              <a:t>η2π⁰ · ωπ⁰ · η′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3675888" y="3401568"/>
            <a:ext cx="4626864" cy="658368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it-IT" sz="1370" b="0" i="0">
                <a:solidFill>
                  <a:srgbClr val="112642"/>
                </a:solidFill>
                <a:latin typeface="Aptos"/>
              </a:rPr>
              <a:t>Producono cinque o sei fotoni; η2π⁰ ed η′ contengono anche una η reale. Le loro soglie sono oltre 1,10 GeV: contribuiscono al catalogo UV, non al VIS.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685800" y="4251960"/>
            <a:ext cx="7781544" cy="283464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1299" b="1" i="0" dirty="0">
                <a:solidFill>
                  <a:srgbClr val="0B5FA5"/>
                </a:solidFill>
                <a:latin typeface="Aptos"/>
              </a:rPr>
              <a:t>Nel VIS restano accessibili 6 dei 9 canali: il segnale e i cinque fondi dei primi due gruppi.</a:t>
            </a:r>
          </a:p>
        </p:txBody>
      </p:sp>
      <p:sp>
        <p:nvSpPr>
          <p:cNvPr id="15" name="Fill 15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6" name="Fill 16"/>
          <p:cNvSpPr/>
          <p:nvPr/>
        </p:nvSpPr>
        <p:spPr>
          <a:xfrm>
            <a:off x="0" y="0"/>
            <a:ext cx="3765176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7" name="Text 17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18" name="Fill 18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9" name="Fill 19"/>
          <p:cNvSpPr/>
          <p:nvPr/>
        </p:nvSpPr>
        <p:spPr>
          <a:xfrm>
            <a:off x="0" y="4882896"/>
            <a:ext cx="3765176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20" name="Text 20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MONTE CARLO</a:t>
            </a:r>
          </a:p>
        </p:txBody>
      </p:sp>
      <p:sp>
        <p:nvSpPr>
          <p:cNvPr id="21" name="Text 21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07/17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Che cos'è un BDT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A. Nayak, BDT (2024), pp. 10–11; schema dalla stessa presentazione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76656" y="960120"/>
            <a:ext cx="4846320" cy="603504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1376" b="0" i="0">
                <a:solidFill>
                  <a:srgbClr val="112642"/>
                </a:solidFill>
                <a:latin typeface="Aptos"/>
              </a:rPr>
              <a:t>Il BDT impara da eventi etichettati come segnale o fondo. Ogni evento è descritto da variabili e può avere un peso.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676656" y="1728216"/>
            <a:ext cx="4709160" cy="292608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1548" b="1" i="0">
                <a:solidFill>
                  <a:srgbClr val="0B5FA5"/>
                </a:solidFill>
                <a:latin typeface="Aptos"/>
              </a:rPr>
              <a:t>Dalla radice ai rami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676656" y="2048256"/>
            <a:ext cx="4754880" cy="749808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1400" b="0" i="0">
                <a:solidFill>
                  <a:srgbClr val="112642"/>
                </a:solidFill>
                <a:latin typeface="Aptos"/>
              </a:rPr>
              <a:t>Partendo da tutti gli eventi, l'algoritmo prova variabili e soglie e sceglie la divisione che separa meglio le due classi. A ogni nodo può riusare una variabile già scelta.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676656" y="2834640"/>
            <a:ext cx="4709160" cy="292608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1548" b="1" i="0">
                <a:solidFill>
                  <a:srgbClr val="0B5FA5"/>
                </a:solidFill>
                <a:latin typeface="Aptos"/>
              </a:rPr>
              <a:t>Dai rami alle foglie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676656" y="3154680"/>
            <a:ext cx="4754880" cy="704088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1400" b="0" i="0">
                <a:solidFill>
                  <a:srgbClr val="112642"/>
                </a:solidFill>
                <a:latin typeface="Aptos"/>
              </a:rPr>
              <a:t>Ripete la divisione finché raggiunge la profondità massima o non migliora più la separazione. Le foglie indicano la classe; nel BDT contribuiscono allo score finale.</a:t>
            </a:r>
          </a:p>
        </p:txBody>
      </p:sp>
      <p:pic>
        <p:nvPicPr>
          <p:cNvPr id="9" name="decision_tree_nayak.png" descr="decision_tree_nayak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6248" y="1033272"/>
            <a:ext cx="2975567" cy="3255264"/>
          </a:xfrm>
          <a:prstGeom prst="rect">
            <a:avLst/>
          </a:prstGeom>
        </p:spPr>
      </p:pic>
      <p:sp>
        <p:nvSpPr>
          <p:cNvPr id="10" name="Text 10"/>
          <p:cNvSpPr txBox="1"/>
          <p:nvPr/>
        </p:nvSpPr>
        <p:spPr>
          <a:xfrm>
            <a:off x="5742432" y="4325112"/>
            <a:ext cx="2743200" cy="219456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it-IT" sz="1160" b="0" i="0">
                <a:solidFill>
                  <a:srgbClr val="52657B"/>
                </a:solidFill>
                <a:latin typeface="Aptos"/>
              </a:rPr>
              <a:t>B = fondo     S = segnale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685800" y="3995928"/>
            <a:ext cx="4828032" cy="566928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1280" b="0" i="0">
                <a:solidFill>
                  <a:srgbClr val="112642"/>
                </a:solidFill>
                <a:latin typeface="Aptos"/>
              </a:rPr>
              <a:t>Invece di essere scartato da un singolo taglio, l'evento percorre un ramo a ogni risposta. Più alberi formano lo score; la sua soglia regola segnale e fondo.</a:t>
            </a:r>
          </a:p>
        </p:txBody>
      </p:sp>
      <p:sp>
        <p:nvSpPr>
          <p:cNvPr id="12" name="Fill 12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3" name="Fill 13"/>
          <p:cNvSpPr/>
          <p:nvPr/>
        </p:nvSpPr>
        <p:spPr>
          <a:xfrm>
            <a:off x="0" y="0"/>
            <a:ext cx="4303059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4" name="Text 14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15" name="Fill 15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6" name="Fill 16"/>
          <p:cNvSpPr/>
          <p:nvPr/>
        </p:nvSpPr>
        <p:spPr>
          <a:xfrm>
            <a:off x="0" y="4882896"/>
            <a:ext cx="4303059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7" name="Text 17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BDT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08/17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Il nostro BDT: metodo e risultati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00_common/stage1/features.py; wiki/04-bdt-training.md; results/production-20261006-113738</a:t>
            </a:r>
          </a:p>
        </p:txBody>
      </p:sp>
      <p:pic>
        <p:nvPicPr>
          <p:cNvPr id="4" name="score_uv_production.png" descr="score_uv_production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804" y="1152144"/>
            <a:ext cx="4206240" cy="3154680"/>
          </a:xfrm>
          <a:prstGeom prst="rect">
            <a:avLst/>
          </a:prstGeom>
        </p:spPr>
      </p:pic>
      <p:sp>
        <p:nvSpPr>
          <p:cNvPr id="5" name="Text 5"/>
          <p:cNvSpPr txBox="1"/>
          <p:nvPr/>
        </p:nvSpPr>
        <p:spPr>
          <a:xfrm>
            <a:off x="676656" y="4297680"/>
            <a:ext cx="4389120" cy="301752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1050" b="0" i="0">
                <a:solidFill>
                  <a:srgbClr val="52657B"/>
                </a:solidFill>
                <a:latin typeface="Aptos"/>
              </a:rPr>
              <a:t>Score UV: 0 ≈ fondo, 1 ≈ segnale; densità per classe.</a:t>
            </a:r>
          </a:p>
          <a:p>
            <a:pPr algn="l"/>
            <a:r>
              <a:rPr lang="it-IT" sz="1050" b="0" i="0">
                <a:solidFill>
                  <a:srgbClr val="52657B"/>
                </a:solidFill>
                <a:latin typeface="Aptos"/>
              </a:rPr>
              <a:t>Linea rossa: soglia 0,394.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5093208" y="987552"/>
            <a:ext cx="3337560" cy="283464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1462" b="1" i="0">
                <a:solidFill>
                  <a:srgbClr val="0B5FA5"/>
                </a:solidFill>
                <a:latin typeface="Aptos"/>
              </a:rPr>
              <a:t>Training e selezione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5093208" y="1316736"/>
            <a:ext cx="3355848" cy="813816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1250" b="0" i="0">
                <a:solidFill>
                  <a:srgbClr val="112642"/>
                </a:solidFill>
                <a:latin typeface="Aptos"/>
              </a:rPr>
              <a:t>MC di nove canali: accettanza simulata, quattro fotoni osservati, pesi per fascio e canale. Dividiamo il campione 80/20; usiamo modelli UV/VIS e le stesse variabili sui dati.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5093208" y="2203704"/>
            <a:ext cx="3337560" cy="283464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1462" b="1" i="0">
                <a:solidFill>
                  <a:srgbClr val="0B5FA5"/>
                </a:solidFill>
                <a:latin typeface="Aptos"/>
              </a:rPr>
              <a:t>Le 26 variabili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5093208" y="2532888"/>
            <a:ext cx="3355848" cy="594360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1250" b="0" i="0">
                <a:solidFill>
                  <a:srgbClr val="112642"/>
                </a:solidFill>
                <a:latin typeface="Aptos"/>
              </a:rPr>
              <a:t>6 masse γγ; 2 conteggi vicino a η/π⁰ e χ² del pairing; 4 variabili mancanti; 9 misure di fotoni/fascio; 2 del protone; 2 dei mesoni.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5093208" y="3200400"/>
            <a:ext cx="3355848" cy="283464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1462" b="1" i="0">
                <a:solidFill>
                  <a:srgbClr val="0B5FA5"/>
                </a:solidFill>
                <a:latin typeface="Aptos"/>
              </a:rPr>
              <a:t>Risultati sul MC di validazione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5093208" y="3529584"/>
            <a:ext cx="3355848" cy="411480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1250" b="0" i="0">
                <a:solidFill>
                  <a:srgbClr val="112642"/>
                </a:solidFill>
                <a:latin typeface="Aptos"/>
              </a:rPr>
              <a:t>UV: AUC 0,9979; F1 0,9855; soglia 0,394.</a:t>
            </a:r>
          </a:p>
          <a:p>
            <a:pPr algn="l"/>
            <a:r>
              <a:rPr lang="it-IT" sz="1250" b="0" i="0">
                <a:solidFill>
                  <a:srgbClr val="112642"/>
                </a:solidFill>
                <a:latin typeface="Aptos"/>
              </a:rPr>
              <a:t>VIS: AUC 0,9997; F1 0,9962; soglia 0,291.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5093208" y="3995928"/>
            <a:ext cx="3355848" cy="594360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800" b="0" i="0" dirty="0">
                <a:solidFill>
                  <a:srgbClr val="52657B"/>
                </a:solidFill>
                <a:latin typeface="Aptos"/>
              </a:rPr>
              <a:t>AUC pesata misura la separazione a tutte le soglie (1 è ideale). F1 pesato combina precisione e richiamo; scegliamo la soglia massimizzandolo sulla stessa validazione MC. Non misura la purezza dei dati.</a:t>
            </a:r>
          </a:p>
        </p:txBody>
      </p:sp>
      <p:sp>
        <p:nvSpPr>
          <p:cNvPr id="13" name="Fill 13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4" name="Fill 14"/>
          <p:cNvSpPr/>
          <p:nvPr/>
        </p:nvSpPr>
        <p:spPr>
          <a:xfrm>
            <a:off x="0" y="0"/>
            <a:ext cx="4840941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5" name="Text 15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16" name="Fill 16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7" name="Fill 17"/>
          <p:cNvSpPr/>
          <p:nvPr/>
        </p:nvSpPr>
        <p:spPr>
          <a:xfrm>
            <a:off x="0" y="4882896"/>
            <a:ext cx="4840941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8" name="Text 18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BDT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09/17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Calibrazione dei flussi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estratti semplificati da 06_calibration/build_strip_energy_flux.py e run_manifest.py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76656" y="941832"/>
            <a:ext cx="7818120" cy="393192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1376" b="0" i="0" dirty="0">
                <a:solidFill>
                  <a:srgbClr val="112642"/>
                </a:solidFill>
                <a:latin typeface="Aptos"/>
              </a:rPr>
              <a:t>Per ogni </a:t>
            </a:r>
            <a:r>
              <a:rPr lang="it-IT" sz="1376" b="0" i="0" dirty="0" err="1">
                <a:solidFill>
                  <a:srgbClr val="112642"/>
                </a:solidFill>
                <a:latin typeface="Aptos"/>
              </a:rPr>
              <a:t>run</a:t>
            </a:r>
            <a:r>
              <a:rPr lang="it-IT" sz="1376" b="0" i="0" dirty="0">
                <a:solidFill>
                  <a:srgbClr val="112642"/>
                </a:solidFill>
                <a:latin typeface="Aptos"/>
              </a:rPr>
              <a:t> usiamo le energie del fascio per calibrare l'asse dei flussi esterni.</a:t>
            </a:r>
          </a:p>
        </p:txBody>
      </p:sp>
      <p:sp>
        <p:nvSpPr>
          <p:cNvPr id="5" name="Fill 5"/>
          <p:cNvSpPr/>
          <p:nvPr/>
        </p:nvSpPr>
        <p:spPr>
          <a:xfrm>
            <a:off x="667512" y="1472184"/>
            <a:ext cx="3657600" cy="667512"/>
          </a:xfrm>
          <a:prstGeom prst="round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6" name="Text 6"/>
          <p:cNvSpPr txBox="1"/>
          <p:nvPr/>
        </p:nvSpPr>
        <p:spPr>
          <a:xfrm>
            <a:off x="832104" y="1572768"/>
            <a:ext cx="3337560" cy="466344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it-IT" sz="1230" b="0" i="0">
                <a:solidFill>
                  <a:srgbClr val="FFFFFF"/>
                </a:solidFill>
                <a:latin typeface="Aptos"/>
              </a:rPr>
              <a:t>all_records = validate_manifest(</a:t>
            </a:r>
          </a:p>
          <a:p>
            <a:pPr algn="l"/>
            <a:r>
              <a:rPr lang="it-IT" sz="1230" b="0" i="0">
                <a:solidFill>
                  <a:srgbClr val="FFFFFF"/>
                </a:solidFill>
                <a:latin typeface="Aptos"/>
              </a:rPr>
              <a:t>    args.manifest)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4389120" y="1536192"/>
            <a:ext cx="338328" cy="530352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it-IT" sz="2236" b="1" i="0">
                <a:solidFill>
                  <a:srgbClr val="0B5FA5"/>
                </a:solidFill>
                <a:latin typeface="Aptos"/>
              </a:rPr>
              <a:t>→</a:t>
            </a:r>
          </a:p>
        </p:txBody>
      </p:sp>
      <p:sp>
        <p:nvSpPr>
          <p:cNvPr id="8" name="Fill 8"/>
          <p:cNvSpPr/>
          <p:nvPr/>
        </p:nvSpPr>
        <p:spPr>
          <a:xfrm>
            <a:off x="4773168" y="1472184"/>
            <a:ext cx="3694176" cy="667512"/>
          </a:xfrm>
          <a:prstGeom prst="roundRect">
            <a:avLst/>
          </a:prstGeom>
          <a:solidFill>
            <a:srgbClr val="DDEFFA"/>
          </a:solidFill>
          <a:ln>
            <a:noFill/>
          </a:ln>
        </p:spPr>
      </p:sp>
      <p:sp>
        <p:nvSpPr>
          <p:cNvPr id="9" name="Text 9"/>
          <p:cNvSpPr txBox="1"/>
          <p:nvPr/>
        </p:nvSpPr>
        <p:spPr>
          <a:xfrm>
            <a:off x="4919472" y="1527048"/>
            <a:ext cx="3401568" cy="566928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it-IT" sz="1310" b="0" i="0">
                <a:solidFill>
                  <a:srgbClr val="112642"/>
                </a:solidFill>
                <a:latin typeface="Aptos"/>
              </a:rPr>
              <a:t>Il CSV identifica run, target P/D e fascio UV/VIS. La polarizzazione viene dagli eventi h80.</a:t>
            </a:r>
          </a:p>
        </p:txBody>
      </p:sp>
      <p:sp>
        <p:nvSpPr>
          <p:cNvPr id="10" name="Fill 10"/>
          <p:cNvSpPr/>
          <p:nvPr/>
        </p:nvSpPr>
        <p:spPr>
          <a:xfrm>
            <a:off x="667512" y="2240280"/>
            <a:ext cx="3657600" cy="667512"/>
          </a:xfrm>
          <a:prstGeom prst="round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1" name="Text 11"/>
          <p:cNvSpPr txBox="1"/>
          <p:nvPr/>
        </p:nvSpPr>
        <p:spPr>
          <a:xfrm>
            <a:off x="832104" y="2331720"/>
            <a:ext cx="3337560" cy="475488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it-IT" sz="1230" b="0" i="0">
                <a:solidFill>
                  <a:srgbClr val="FFFFFF"/>
                </a:solidFill>
                <a:latin typeface="Aptos"/>
              </a:rPr>
              <a:t>read_h80_lookup(...)</a:t>
            </a:r>
          </a:p>
          <a:p>
            <a:pPr algn="l"/>
            <a:r>
              <a:rPr lang="it-IT" sz="1230" b="0" i="0">
                <a:solidFill>
                  <a:srgbClr val="FFFFFF"/>
                </a:solidFill>
                <a:latin typeface="Aptos"/>
              </a:rPr>
              <a:t>read_calibration_cells(...)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4389120" y="2304288"/>
            <a:ext cx="338328" cy="530352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it-IT" sz="2236" b="1" i="0">
                <a:solidFill>
                  <a:srgbClr val="0B5FA5"/>
                </a:solidFill>
                <a:latin typeface="Aptos"/>
              </a:rPr>
              <a:t>→</a:t>
            </a:r>
          </a:p>
        </p:txBody>
      </p:sp>
      <p:sp>
        <p:nvSpPr>
          <p:cNvPr id="13" name="Fill 13"/>
          <p:cNvSpPr/>
          <p:nvPr/>
        </p:nvSpPr>
        <p:spPr>
          <a:xfrm>
            <a:off x="4773168" y="2240280"/>
            <a:ext cx="3694176" cy="667512"/>
          </a:xfrm>
          <a:prstGeom prst="roundRect">
            <a:avLst/>
          </a:prstGeom>
          <a:solidFill>
            <a:srgbClr val="DDEFFA"/>
          </a:solidFill>
          <a:ln>
            <a:noFill/>
          </a:ln>
        </p:spPr>
      </p:sp>
      <p:sp>
        <p:nvSpPr>
          <p:cNvPr id="14" name="Text 14"/>
          <p:cNvSpPr txBox="1"/>
          <p:nvPr/>
        </p:nvSpPr>
        <p:spPr>
          <a:xfrm>
            <a:off x="4919472" y="2295144"/>
            <a:ext cx="3401568" cy="566928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it-IT" sz="1290" b="0" i="0" dirty="0">
                <a:solidFill>
                  <a:srgbClr val="112642"/>
                </a:solidFill>
                <a:latin typeface="Aptos"/>
              </a:rPr>
              <a:t>Da </a:t>
            </a:r>
            <a:r>
              <a:rPr lang="it-IT" sz="1290" b="0" i="0" dirty="0" err="1">
                <a:solidFill>
                  <a:srgbClr val="112642"/>
                </a:solidFill>
                <a:latin typeface="Aptos"/>
              </a:rPr>
              <a:t>Eγ</a:t>
            </a:r>
            <a:r>
              <a:rPr lang="it-IT" sz="1290" b="0" i="0" dirty="0">
                <a:solidFill>
                  <a:srgbClr val="112642"/>
                </a:solidFill>
                <a:latin typeface="Aptos"/>
              </a:rPr>
              <a:t> e </a:t>
            </a:r>
            <a:r>
              <a:rPr lang="it-IT" sz="1290" b="0" i="0" dirty="0" err="1">
                <a:solidFill>
                  <a:srgbClr val="112642"/>
                </a:solidFill>
                <a:latin typeface="Aptos"/>
              </a:rPr>
              <a:t>Xstrip</a:t>
            </a:r>
            <a:r>
              <a:rPr lang="it-IT" sz="1290" b="0" i="0" dirty="0">
                <a:solidFill>
                  <a:srgbClr val="112642"/>
                </a:solidFill>
                <a:latin typeface="Aptos"/>
              </a:rPr>
              <a:t> otteniamo la mediana per </a:t>
            </a:r>
            <a:r>
              <a:rPr lang="it-IT" sz="1290" b="0" i="0" dirty="0" err="1">
                <a:solidFill>
                  <a:srgbClr val="112642"/>
                </a:solidFill>
                <a:latin typeface="Aptos"/>
              </a:rPr>
              <a:t>run</a:t>
            </a:r>
            <a:r>
              <a:rPr lang="it-IT" sz="1290" b="0" i="0" dirty="0">
                <a:solidFill>
                  <a:srgbClr val="112642"/>
                </a:solidFill>
                <a:latin typeface="Aptos"/>
              </a:rPr>
              <a:t>/strip e la media per </a:t>
            </a:r>
            <a:r>
              <a:rPr lang="it-IT" sz="1290" b="0" i="0" dirty="0" err="1">
                <a:solidFill>
                  <a:srgbClr val="112642"/>
                </a:solidFill>
                <a:latin typeface="Aptos"/>
              </a:rPr>
              <a:t>run</a:t>
            </a:r>
            <a:r>
              <a:rPr lang="it-IT" sz="1290" b="0" i="0" dirty="0">
                <a:solidFill>
                  <a:srgbClr val="112642"/>
                </a:solidFill>
                <a:latin typeface="Aptos"/>
              </a:rPr>
              <a:t>/polarizzazione/strip usata nel </a:t>
            </a:r>
            <a:r>
              <a:rPr lang="it-IT" sz="1290" b="0" i="0" dirty="0" err="1">
                <a:solidFill>
                  <a:srgbClr val="112642"/>
                </a:solidFill>
                <a:latin typeface="Aptos"/>
              </a:rPr>
              <a:t>fit</a:t>
            </a:r>
            <a:r>
              <a:rPr lang="it-IT" sz="1290" b="0" i="0" dirty="0">
                <a:solidFill>
                  <a:srgbClr val="112642"/>
                </a:solidFill>
                <a:latin typeface="Aptos"/>
              </a:rPr>
              <a:t>.</a:t>
            </a:r>
          </a:p>
        </p:txBody>
      </p:sp>
      <p:sp>
        <p:nvSpPr>
          <p:cNvPr id="15" name="Fill 15"/>
          <p:cNvSpPr/>
          <p:nvPr/>
        </p:nvSpPr>
        <p:spPr>
          <a:xfrm>
            <a:off x="667512" y="3008376"/>
            <a:ext cx="3657600" cy="667512"/>
          </a:xfrm>
          <a:prstGeom prst="round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6" name="Text 16"/>
          <p:cNvSpPr txBox="1"/>
          <p:nvPr/>
        </p:nvSpPr>
        <p:spPr>
          <a:xfrm>
            <a:off x="832104" y="3099816"/>
            <a:ext cx="3337560" cy="475488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it-IT" sz="1200" b="0" i="0">
                <a:solidFill>
                  <a:srgbClr val="FFFFFF"/>
                </a:solidFill>
                <a:latin typeface="Aptos"/>
              </a:rPr>
              <a:t>_FLUX_SUFFIXES = ("POL1", "POL2",</a:t>
            </a:r>
          </a:p>
          <a:p>
            <a:pPr algn="l"/>
            <a:r>
              <a:rPr lang="it-IT" sz="1200" b="0" i="0">
                <a:solidFill>
                  <a:srgbClr val="FFFFFF"/>
                </a:solidFill>
                <a:latin typeface="Aptos"/>
              </a:rPr>
              <a:t>                  "BREM")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4389120" y="3072384"/>
            <a:ext cx="338328" cy="530352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it-IT" sz="2236" b="1" i="0">
                <a:solidFill>
                  <a:srgbClr val="0B5FA5"/>
                </a:solidFill>
                <a:latin typeface="Aptos"/>
              </a:rPr>
              <a:t>→</a:t>
            </a:r>
          </a:p>
        </p:txBody>
      </p:sp>
      <p:sp>
        <p:nvSpPr>
          <p:cNvPr id="18" name="Fill 18"/>
          <p:cNvSpPr/>
          <p:nvPr/>
        </p:nvSpPr>
        <p:spPr>
          <a:xfrm>
            <a:off x="4773168" y="3008376"/>
            <a:ext cx="3694176" cy="667512"/>
          </a:xfrm>
          <a:prstGeom prst="roundRect">
            <a:avLst/>
          </a:prstGeom>
          <a:solidFill>
            <a:srgbClr val="DDEFFA"/>
          </a:solidFill>
          <a:ln>
            <a:noFill/>
          </a:ln>
        </p:spPr>
      </p:sp>
      <p:sp>
        <p:nvSpPr>
          <p:cNvPr id="19" name="Text 19"/>
          <p:cNvSpPr txBox="1"/>
          <p:nvPr/>
        </p:nvSpPr>
        <p:spPr>
          <a:xfrm>
            <a:off x="4919472" y="3063240"/>
            <a:ext cx="3401568" cy="566928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it-IT" sz="1270" b="0" i="0" dirty="0">
                <a:solidFill>
                  <a:srgbClr val="112642"/>
                </a:solidFill>
                <a:latin typeface="Aptos"/>
              </a:rPr>
              <a:t>Ogni </a:t>
            </a:r>
            <a:r>
              <a:rPr lang="it-IT" sz="1270" b="0" i="0" dirty="0" err="1">
                <a:solidFill>
                  <a:srgbClr val="112642"/>
                </a:solidFill>
                <a:latin typeface="Aptos"/>
              </a:rPr>
              <a:t>run</a:t>
            </a:r>
            <a:r>
              <a:rPr lang="it-IT" sz="1270" b="0" i="0" dirty="0">
                <a:solidFill>
                  <a:srgbClr val="112642"/>
                </a:solidFill>
                <a:latin typeface="Aptos"/>
              </a:rPr>
              <a:t> richiede il tripletto completo. Se manca un flusso, la lettura si arresta</a:t>
            </a:r>
          </a:p>
        </p:txBody>
      </p:sp>
      <p:sp>
        <p:nvSpPr>
          <p:cNvPr id="20" name="Fill 20"/>
          <p:cNvSpPr/>
          <p:nvPr/>
        </p:nvSpPr>
        <p:spPr>
          <a:xfrm>
            <a:off x="667512" y="3776472"/>
            <a:ext cx="3657600" cy="667512"/>
          </a:xfrm>
          <a:prstGeom prst="round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21" name="Text 21"/>
          <p:cNvSpPr txBox="1"/>
          <p:nvPr/>
        </p:nvSpPr>
        <p:spPr>
          <a:xfrm>
            <a:off x="832104" y="3867912"/>
            <a:ext cx="3337560" cy="475488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it-IT" sz="1180" b="0" i="0">
                <a:solidFill>
                  <a:srgbClr val="FFFFFF"/>
                </a:solidFill>
                <a:latin typeface="Aptos"/>
              </a:rPr>
              <a:t>fit = root.TF1(..., "pol4", 0.5, 128.5)</a:t>
            </a:r>
          </a:p>
          <a:p>
            <a:pPr algn="l"/>
            <a:r>
              <a:rPr lang="it-IT" sz="1180" b="0" i="0">
                <a:solidFill>
                  <a:srgbClr val="FFFFFF"/>
                </a:solidFill>
                <a:latin typeface="Aptos"/>
              </a:rPr>
              <a:t>profile.Fit(fit, "QSWN")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4389120" y="3840480"/>
            <a:ext cx="338328" cy="530352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it-IT" sz="2236" b="1" i="0">
                <a:solidFill>
                  <a:srgbClr val="0B5FA5"/>
                </a:solidFill>
                <a:latin typeface="Aptos"/>
              </a:rPr>
              <a:t>→</a:t>
            </a:r>
          </a:p>
        </p:txBody>
      </p:sp>
      <p:sp>
        <p:nvSpPr>
          <p:cNvPr id="23" name="Fill 23"/>
          <p:cNvSpPr/>
          <p:nvPr/>
        </p:nvSpPr>
        <p:spPr>
          <a:xfrm>
            <a:off x="4773168" y="3776472"/>
            <a:ext cx="3694176" cy="667512"/>
          </a:xfrm>
          <a:prstGeom prst="roundRect">
            <a:avLst/>
          </a:prstGeom>
          <a:solidFill>
            <a:srgbClr val="DDEFFA"/>
          </a:solidFill>
          <a:ln>
            <a:noFill/>
          </a:ln>
        </p:spPr>
      </p:sp>
      <p:sp>
        <p:nvSpPr>
          <p:cNvPr id="24" name="Text 24"/>
          <p:cNvSpPr txBox="1"/>
          <p:nvPr/>
        </p:nvSpPr>
        <p:spPr>
          <a:xfrm>
            <a:off x="4919472" y="3831336"/>
            <a:ext cx="3401568" cy="566928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it-IT" sz="1260" b="0" i="0" dirty="0">
                <a:solidFill>
                  <a:srgbClr val="112642"/>
                </a:solidFill>
                <a:latin typeface="Aptos"/>
              </a:rPr>
              <a:t>Il </a:t>
            </a:r>
            <a:r>
              <a:rPr lang="it-IT" sz="1260" b="0" i="0" dirty="0" err="1">
                <a:solidFill>
                  <a:srgbClr val="112642"/>
                </a:solidFill>
                <a:latin typeface="Aptos"/>
              </a:rPr>
              <a:t>fit</a:t>
            </a:r>
            <a:r>
              <a:rPr lang="it-IT" sz="1260" b="0" i="0" dirty="0">
                <a:solidFill>
                  <a:srgbClr val="112642"/>
                </a:solidFill>
                <a:latin typeface="Aptos"/>
              </a:rPr>
              <a:t> richiede ≥5 strip e gli estremi 1/128. Riscrive gli assi </a:t>
            </a:r>
            <a:r>
              <a:rPr lang="it-IT" sz="1260" b="0" i="0" dirty="0" err="1">
                <a:solidFill>
                  <a:srgbClr val="112642"/>
                </a:solidFill>
                <a:latin typeface="Aptos"/>
              </a:rPr>
              <a:t>Eγ</a:t>
            </a:r>
            <a:r>
              <a:rPr lang="it-IT" sz="1260" b="0" i="0" dirty="0">
                <a:solidFill>
                  <a:srgbClr val="112642"/>
                </a:solidFill>
                <a:latin typeface="Aptos"/>
              </a:rPr>
              <a:t> in </a:t>
            </a:r>
            <a:r>
              <a:rPr lang="it-IT" sz="1260" b="0" i="0" dirty="0" err="1">
                <a:solidFill>
                  <a:srgbClr val="112642"/>
                </a:solidFill>
                <a:latin typeface="Aptos"/>
              </a:rPr>
              <a:t>flux_calibrated.root</a:t>
            </a:r>
            <a:endParaRPr lang="it-IT" sz="1260" b="0" i="0" dirty="0">
              <a:solidFill>
                <a:srgbClr val="112642"/>
              </a:solidFill>
              <a:latin typeface="Aptos"/>
            </a:endParaRPr>
          </a:p>
        </p:txBody>
      </p:sp>
      <p:sp>
        <p:nvSpPr>
          <p:cNvPr id="25" name="Fill 25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26" name="Fill 26"/>
          <p:cNvSpPr/>
          <p:nvPr/>
        </p:nvSpPr>
        <p:spPr>
          <a:xfrm>
            <a:off x="0" y="0"/>
            <a:ext cx="5378824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27" name="Text 27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28" name="Fill 28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29" name="Fill 29"/>
          <p:cNvSpPr/>
          <p:nvPr/>
        </p:nvSpPr>
        <p:spPr>
          <a:xfrm>
            <a:off x="0" y="4882896"/>
            <a:ext cx="5378824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30" name="Text 30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CALIBRAZIONE</a:t>
            </a:r>
          </a:p>
        </p:txBody>
      </p:sp>
      <p:sp>
        <p:nvSpPr>
          <p:cNvPr id="31" name="Text 31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10/17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Estrazione dell'asimmetria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wiki/07-beam-asymmetry-estimators.md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85800" y="1024128"/>
            <a:ext cx="1097280" cy="786384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5160" b="1" i="0">
                <a:solidFill>
                  <a:srgbClr val="0B5FA5"/>
                </a:solidFill>
                <a:latin typeface="Aptos"/>
              </a:rPr>
              <a:t>Σ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1737360" y="1124712"/>
            <a:ext cx="6629400" cy="804672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1892" b="0" i="0">
                <a:solidFill>
                  <a:srgbClr val="112642"/>
                </a:solidFill>
                <a:latin typeface="Aptos"/>
              </a:rPr>
              <a:t>Con un fascio polarizzato linearmente, Σ descrive la modulazione azimutale.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704088" y="2139696"/>
            <a:ext cx="7772400" cy="475488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2322" b="1" i="0">
                <a:solidFill>
                  <a:srgbClr val="0B5FA5"/>
                </a:solidFill>
                <a:latin typeface="Aptos"/>
              </a:rPr>
              <a:t>R(φ) = (yV − yH) / (PH yV + PV yH)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722376" y="2679192"/>
            <a:ext cx="7589520" cy="365760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1806" b="0" i="0">
                <a:solidFill>
                  <a:srgbClr val="112642"/>
                </a:solidFill>
                <a:latin typeface="Aptos"/>
              </a:rPr>
              <a:t>yV = NV / FV       yH = NH / FH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713232" y="3282696"/>
            <a:ext cx="7818120" cy="420624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1720" b="0" i="0">
                <a:solidFill>
                  <a:srgbClr val="112642"/>
                </a:solidFill>
                <a:latin typeface="Aptos"/>
              </a:rPr>
              <a:t>Ricaviamo Σ dalla componente cos(2φ) di R(φ).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713232" y="3776472"/>
            <a:ext cx="7818120" cy="420624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1505" b="0" i="0">
                <a:solidFill>
                  <a:srgbClr val="112642"/>
                </a:solidFill>
                <a:latin typeface="Aptos"/>
              </a:rPr>
              <a:t>Controlliamo il risultato con una likelihood condizionale e usiamo flussi e polarizzazioni specifici di run e strip.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713232" y="4279392"/>
            <a:ext cx="7818120" cy="256032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1333" b="0" i="0">
                <a:solidFill>
                  <a:srgbClr val="52657B"/>
                </a:solidFill>
                <a:latin typeface="Aptos"/>
              </a:rPr>
              <a:t>L'analisi usa 12 intervalli in φ e 10 in massa per ciascuno dei tre sottosistemi.</a:t>
            </a:r>
          </a:p>
        </p:txBody>
      </p:sp>
      <p:sp>
        <p:nvSpPr>
          <p:cNvPr id="11" name="Fill 11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2" name="Fill 12"/>
          <p:cNvSpPr/>
          <p:nvPr/>
        </p:nvSpPr>
        <p:spPr>
          <a:xfrm>
            <a:off x="0" y="0"/>
            <a:ext cx="5916706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3" name="Text 13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14" name="Fill 14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5" name="Fill 15"/>
          <p:cNvSpPr/>
          <p:nvPr/>
        </p:nvSpPr>
        <p:spPr>
          <a:xfrm>
            <a:off x="0" y="4882896"/>
            <a:ext cx="5916706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6" name="Text 16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ASIMMETRIE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11/17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Prime asimmetrie UV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results/test_data/combined/figure4_experimental.pdf; run locale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713232" y="1005840"/>
            <a:ext cx="7726680" cy="347472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1634" b="1" i="0">
                <a:solidFill>
                  <a:srgbClr val="0B5FA5"/>
                </a:solidFill>
                <a:latin typeface="Aptos"/>
              </a:rPr>
              <a:t>1,30–1,40 GeV · pπ⁰, pη, ηπ⁰</a:t>
            </a:r>
          </a:p>
        </p:txBody>
      </p:sp>
      <p:pic>
        <p:nvPicPr>
          <p:cNvPr id="5" name="sigma_uv.png" descr="sigma_uv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" y="1529116"/>
            <a:ext cx="8211312" cy="2208711"/>
          </a:xfrm>
          <a:prstGeom prst="rect">
            <a:avLst/>
          </a:prstGeom>
        </p:spPr>
      </p:pic>
      <p:sp>
        <p:nvSpPr>
          <p:cNvPr id="6" name="Text 6"/>
          <p:cNvSpPr txBox="1"/>
          <p:nvPr/>
        </p:nvSpPr>
        <p:spPr>
          <a:xfrm>
            <a:off x="713232" y="4050792"/>
            <a:ext cx="7726680" cy="484632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1462" b="0" i="0">
                <a:solidFill>
                  <a:srgbClr val="112642"/>
                </a:solidFill>
                <a:latin typeface="Aptos"/>
              </a:rPr>
              <a:t>Nel sottosistema pη osserviamo valori negativi in diversi intervalli di massa. La figura mostra solo gli errori statistici.</a:t>
            </a:r>
          </a:p>
        </p:txBody>
      </p:sp>
      <p:sp>
        <p:nvSpPr>
          <p:cNvPr id="7" name="Fill 7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8" name="Fill 8"/>
          <p:cNvSpPr/>
          <p:nvPr/>
        </p:nvSpPr>
        <p:spPr>
          <a:xfrm>
            <a:off x="0" y="0"/>
            <a:ext cx="6454588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9" name="Text 9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10" name="Fill 10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1" name="Fill 11"/>
          <p:cNvSpPr/>
          <p:nvPr/>
        </p:nvSpPr>
        <p:spPr>
          <a:xfrm>
            <a:off x="0" y="4882896"/>
            <a:ext cx="6454588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2" name="Text 12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RISULTATI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12/17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Confronto con Ajaka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Ajaka et al. (2008); digitizzazione versionata; run locale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704088" y="996696"/>
            <a:ext cx="7772400" cy="347472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1548" b="1" i="0">
                <a:solidFill>
                  <a:srgbClr val="0B5FA5"/>
                </a:solidFill>
                <a:latin typeface="Aptos"/>
              </a:rPr>
              <a:t>Tra 1,40 e 1,50 GeV: questa analisi in nero, Ajaka et al. in rosso</a:t>
            </a:r>
          </a:p>
        </p:txBody>
      </p:sp>
      <p:pic>
        <p:nvPicPr>
          <p:cNvPr id="5" name="ajaka_uv.png" descr="ajaka_uv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" y="1486858"/>
            <a:ext cx="8211312" cy="2265795"/>
          </a:xfrm>
          <a:prstGeom prst="rect">
            <a:avLst/>
          </a:prstGeom>
        </p:spPr>
      </p:pic>
      <p:sp>
        <p:nvSpPr>
          <p:cNvPr id="6" name="Text 6"/>
          <p:cNvSpPr txBox="1"/>
          <p:nvPr/>
        </p:nvSpPr>
        <p:spPr>
          <a:xfrm>
            <a:off x="704088" y="4041648"/>
            <a:ext cx="7754112" cy="493776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1419" b="0" i="0">
                <a:solidFill>
                  <a:srgbClr val="112642"/>
                </a:solidFill>
                <a:latin typeface="Aptos"/>
              </a:rPr>
              <a:t>L'accordo cambia con la massa e con il sottosistema. Servono ancora controlli sistematici prima di trarre conclusioni quantitative.</a:t>
            </a:r>
          </a:p>
        </p:txBody>
      </p:sp>
      <p:sp>
        <p:nvSpPr>
          <p:cNvPr id="7" name="Fill 7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8" name="Fill 8"/>
          <p:cNvSpPr/>
          <p:nvPr/>
        </p:nvSpPr>
        <p:spPr>
          <a:xfrm>
            <a:off x="0" y="0"/>
            <a:ext cx="6992471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9" name="Text 9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10" name="Fill 10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1" name="Fill 11"/>
          <p:cNvSpPr/>
          <p:nvPr/>
        </p:nvSpPr>
        <p:spPr>
          <a:xfrm>
            <a:off x="0" y="4882896"/>
            <a:ext cx="6992471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2" name="Text 12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RISULTATI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13/17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VIS vicino alla soglia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results/test_data/combined/figure4_experimental.pdf; run locale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713232" y="987552"/>
            <a:ext cx="7772400" cy="438912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1720" b="1" i="0">
                <a:solidFill>
                  <a:srgbClr val="0B5FA5"/>
                </a:solidFill>
                <a:latin typeface="Aptos"/>
              </a:rPr>
              <a:t>Abbiamo esteso la figura combinata alla regione 0,9313–1,10 GeV</a:t>
            </a:r>
          </a:p>
        </p:txBody>
      </p:sp>
      <p:pic>
        <p:nvPicPr>
          <p:cNvPr id="5" name="sigma_vis.png" descr="sigma_vis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" y="1570264"/>
            <a:ext cx="8211312" cy="2208711"/>
          </a:xfrm>
          <a:prstGeom prst="rect">
            <a:avLst/>
          </a:prstGeom>
        </p:spPr>
      </p:pic>
      <p:sp>
        <p:nvSpPr>
          <p:cNvPr id="6" name="Text 6"/>
          <p:cNvSpPr txBox="1"/>
          <p:nvPr/>
        </p:nvSpPr>
        <p:spPr>
          <a:xfrm>
            <a:off x="713232" y="4069080"/>
            <a:ext cx="7726680" cy="466344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1419" b="0" i="0">
                <a:solidFill>
                  <a:srgbClr val="112642"/>
                </a:solidFill>
                <a:latin typeface="Aptos"/>
              </a:rPr>
              <a:t>Nel campione VIS, Σ tende a valori negativi per pη e diventa positiva in alcuni intervalli di ηπ⁰. Il risultato è preliminare.</a:t>
            </a:r>
          </a:p>
        </p:txBody>
      </p:sp>
      <p:sp>
        <p:nvSpPr>
          <p:cNvPr id="7" name="Fill 7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8" name="Fill 8"/>
          <p:cNvSpPr/>
          <p:nvPr/>
        </p:nvSpPr>
        <p:spPr>
          <a:xfrm>
            <a:off x="0" y="0"/>
            <a:ext cx="7530353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9" name="Text 9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10" name="Fill 10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1" name="Fill 11"/>
          <p:cNvSpPr/>
          <p:nvPr/>
        </p:nvSpPr>
        <p:spPr>
          <a:xfrm>
            <a:off x="0" y="4882896"/>
            <a:ext cx="7530353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2" name="Text 12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RISULTATI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14/17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Perché il VIS è interessante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wiki/compton-beam-and-polarization.md; ipotesi da verificare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94944" y="1069848"/>
            <a:ext cx="3977640" cy="393192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1978" b="1" i="0">
                <a:solidFill>
                  <a:srgbClr val="0B5FA5"/>
                </a:solidFill>
                <a:latin typeface="Aptos"/>
              </a:rPr>
              <a:t>VIS: polarizzazione alta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694944" y="1517904"/>
            <a:ext cx="3813048" cy="960120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1505" b="0" i="0">
                <a:solidFill>
                  <a:srgbClr val="112642"/>
                </a:solidFill>
                <a:latin typeface="Aptos"/>
              </a:rPr>
              <a:t>Con il laser a 514 nm, la polarizzazione si avvicina al 100% al bordo Compton. Nella regione VIS dipende dall'energia del fotone.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694944" y="2734056"/>
            <a:ext cx="3749040" cy="347472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1892" b="1" i="0">
                <a:solidFill>
                  <a:srgbClr val="0B5FA5"/>
                </a:solidFill>
                <a:latin typeface="Aptos"/>
              </a:rPr>
              <a:t>Ipotesi fisica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694944" y="3118104"/>
            <a:ext cx="3822192" cy="969264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1505" b="0" i="0">
                <a:solidFill>
                  <a:srgbClr val="112642"/>
                </a:solidFill>
                <a:latin typeface="Aptos"/>
              </a:rPr>
              <a:t>Anche vicino alla soglia, le code di risonanze ampie e intense possono interferire tra loro e produrre un'asimmetria che varia con la massa.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694944" y="4187952"/>
            <a:ext cx="3813048" cy="365760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1333" b="0" i="0">
                <a:solidFill>
                  <a:srgbClr val="52657B"/>
                </a:solidFill>
                <a:latin typeface="Aptos"/>
              </a:rPr>
              <a:t>Stiamo verificando questa interpretazione con i modelli teorici.</a:t>
            </a:r>
          </a:p>
        </p:txBody>
      </p:sp>
      <p:pic>
        <p:nvPicPr>
          <p:cNvPr id="9" name="polarization.png" descr="polarization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365044"/>
            <a:ext cx="3849624" cy="2884328"/>
          </a:xfrm>
          <a:prstGeom prst="rect">
            <a:avLst/>
          </a:prstGeom>
        </p:spPr>
      </p:pic>
      <p:sp>
        <p:nvSpPr>
          <p:cNvPr id="10" name="Fill 10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1" name="Fill 11"/>
          <p:cNvSpPr/>
          <p:nvPr/>
        </p:nvSpPr>
        <p:spPr>
          <a:xfrm>
            <a:off x="0" y="0"/>
            <a:ext cx="8068235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2" name="Text 12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13" name="Fill 13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4" name="Fill 14"/>
          <p:cNvSpPr/>
          <p:nvPr/>
        </p:nvSpPr>
        <p:spPr>
          <a:xfrm>
            <a:off x="0" y="4882896"/>
            <a:ext cx="8068235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5" name="Text 15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INTERPRETAZIONE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15/17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Verifiche ancora aperte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wiki/known-limitations.md; direttive del progetto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704088" y="1069848"/>
            <a:ext cx="731520" cy="429768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2494" b="1" i="0">
                <a:solidFill>
                  <a:srgbClr val="0B5FA5"/>
                </a:solidFill>
                <a:latin typeface="Aptos"/>
              </a:rPr>
              <a:t>01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1417320" y="1088136"/>
            <a:ext cx="6903720" cy="365760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1677" b="1" i="0">
                <a:solidFill>
                  <a:srgbClr val="112642"/>
                </a:solidFill>
                <a:latin typeface="Aptos"/>
              </a:rPr>
              <a:t>Codici storici: mergedateu e wnorm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1417320" y="1444752"/>
            <a:ext cx="6903720" cy="301752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1376" b="0" i="0">
                <a:solidFill>
                  <a:srgbClr val="112642"/>
                </a:solidFill>
                <a:latin typeface="Aptos"/>
              </a:rPr>
              <a:t>Confronteremo flussi calibrati e Σ per ogni run e intervallo di energia.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704088" y="1947672"/>
            <a:ext cx="731520" cy="429768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2494" b="1" i="0">
                <a:solidFill>
                  <a:srgbClr val="0B5FA5"/>
                </a:solidFill>
                <a:latin typeface="Aptos"/>
              </a:rPr>
              <a:t>02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1417320" y="1965960"/>
            <a:ext cx="6903720" cy="365760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1677" b="1" i="0">
                <a:solidFill>
                  <a:srgbClr val="112642"/>
                </a:solidFill>
                <a:latin typeface="Aptos"/>
              </a:rPr>
              <a:t>Asimmetria del fondo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1417320" y="2322576"/>
            <a:ext cx="6903720" cy="301752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1376" b="0" i="0">
                <a:solidFill>
                  <a:srgbClr val="112642"/>
                </a:solidFill>
                <a:latin typeface="Aptos"/>
              </a:rPr>
              <a:t>Misureremo la modulazione nelle sideband di massa per controllare il fondo.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704088" y="2825496"/>
            <a:ext cx="731520" cy="429768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2494" b="1" i="0">
                <a:solidFill>
                  <a:srgbClr val="0B5FA5"/>
                </a:solidFill>
                <a:latin typeface="Aptos"/>
              </a:rPr>
              <a:t>03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1417320" y="2843784"/>
            <a:ext cx="6903720" cy="365760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1677" b="1" i="0">
                <a:solidFill>
                  <a:srgbClr val="112642"/>
                </a:solidFill>
                <a:latin typeface="Aptos"/>
              </a:rPr>
              <a:t>MC con Σ piatta iniettata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1417320" y="3200400"/>
            <a:ext cx="6903720" cy="301752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1376" b="0" i="0">
                <a:solidFill>
                  <a:srgbClr val="112642"/>
                </a:solidFill>
                <a:latin typeface="Aptos"/>
              </a:rPr>
              <a:t>Rieseguiremo l'analisi sul MC per verificare che recuperi l'asimmetria iniettata.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704088" y="3703320"/>
            <a:ext cx="731520" cy="429768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2494" b="1" i="0">
                <a:solidFill>
                  <a:srgbClr val="0B5FA5"/>
                </a:solidFill>
                <a:latin typeface="Aptos"/>
              </a:rPr>
              <a:t>04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1417320" y="3721608"/>
            <a:ext cx="6903720" cy="365760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1677" b="1" i="0">
                <a:solidFill>
                  <a:srgbClr val="112642"/>
                </a:solidFill>
                <a:latin typeface="Aptos"/>
              </a:rPr>
              <a:t>Sistematiche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1417320" y="4078224"/>
            <a:ext cx="6903720" cy="384048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1376" b="0" i="0">
                <a:solidFill>
                  <a:srgbClr val="112642"/>
                </a:solidFill>
                <a:latin typeface="Aptos"/>
              </a:rPr>
              <a:t>Studieremo l'effetto di flussi, polarizzazione, soglia BDT ed estimatore sul risultato finale.</a:t>
            </a:r>
          </a:p>
        </p:txBody>
      </p:sp>
      <p:sp>
        <p:nvSpPr>
          <p:cNvPr id="16" name="Fill 16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7" name="Fill 17"/>
          <p:cNvSpPr/>
          <p:nvPr/>
        </p:nvSpPr>
        <p:spPr>
          <a:xfrm>
            <a:off x="0" y="0"/>
            <a:ext cx="8606118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8" name="Text 18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19" name="Fill 19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20" name="Fill 20"/>
          <p:cNvSpPr/>
          <p:nvPr/>
        </p:nvSpPr>
        <p:spPr>
          <a:xfrm>
            <a:off x="0" y="4882896"/>
            <a:ext cx="8606118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21" name="Text 21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VERIFICHE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16/17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E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603504" y="365760"/>
            <a:ext cx="8046720" cy="502920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2838" b="1" i="0">
                <a:solidFill>
                  <a:srgbClr val="FFFFFF"/>
                </a:solidFill>
                <a:latin typeface="Aptos"/>
              </a:rPr>
              <a:t>Prossimi passi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685800" y="1161288"/>
            <a:ext cx="3749040" cy="365760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1892" b="1" i="0">
                <a:solidFill>
                  <a:srgbClr val="DDEFFA"/>
                </a:solidFill>
                <a:latin typeface="Aptos"/>
              </a:rPr>
              <a:t>Sezioni d'urto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85800" y="1572768"/>
            <a:ext cx="3749040" cy="365760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1548" b="0" i="0">
                <a:solidFill>
                  <a:srgbClr val="FFFFFF"/>
                </a:solidFill>
                <a:latin typeface="Aptos"/>
              </a:rPr>
              <a:t>Misureremo sia le sezioni differenziali sia quelle totali.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99432" y="1161288"/>
            <a:ext cx="3749040" cy="365760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1892" b="1" i="0">
                <a:solidFill>
                  <a:srgbClr val="DDEFFA"/>
                </a:solidFill>
                <a:latin typeface="Aptos"/>
              </a:rPr>
              <a:t>Primo articolo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4599432" y="1572768"/>
            <a:ext cx="3749040" cy="804672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1548" b="0" i="0">
                <a:solidFill>
                  <a:srgbClr val="FFFFFF"/>
                </a:solidFill>
                <a:latin typeface="Aptos"/>
              </a:rPr>
              <a:t>Prepareremo un articolo sul framework e sui risultati originali, valutando una rivista di fisica.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685800" y="2606040"/>
            <a:ext cx="3749040" cy="365760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1892" b="1" i="0">
                <a:solidFill>
                  <a:srgbClr val="DDEFFA"/>
                </a:solidFill>
                <a:latin typeface="Aptos"/>
              </a:rPr>
              <a:t>Nuovi canali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685800" y="3017520"/>
            <a:ext cx="3749040" cy="685800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1548" b="0" i="0">
                <a:solidFill>
                  <a:srgbClr val="FFFFFF"/>
                </a:solidFill>
                <a:latin typeface="Aptos"/>
              </a:rPr>
              <a:t>Applicheremo la stessa catena a canali che non erano stati studiati in passato.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4599432" y="2606040"/>
            <a:ext cx="3749040" cy="365760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1892" b="1" i="0">
                <a:solidFill>
                  <a:srgbClr val="DDEFFA"/>
                </a:solidFill>
                <a:latin typeface="Aptos"/>
              </a:rPr>
              <a:t>Dalitz e teoria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4599432" y="3017520"/>
            <a:ext cx="3749040" cy="822960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1548" b="0" i="0">
                <a:solidFill>
                  <a:srgbClr val="FFFFFF"/>
                </a:solidFill>
                <a:latin typeface="Aptos"/>
              </a:rPr>
              <a:t>Studieremo i Dalitz plot e proseguiremo il confronto con i modelli teorici.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685800" y="4261104"/>
            <a:ext cx="7772400" cy="393192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1376" b="0" i="0">
                <a:solidFill>
                  <a:srgbClr val="DDEFFA"/>
                </a:solidFill>
                <a:latin typeface="Aptos"/>
              </a:rPr>
              <a:t>Completeremo i controlli sulle sideband e sul MC con asimmetria piatta prima della pubblicazione.</a:t>
            </a:r>
          </a:p>
        </p:txBody>
      </p:sp>
      <p:sp>
        <p:nvSpPr>
          <p:cNvPr id="12" name="Fill 12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3" name="Fill 13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4" name="Text 14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15" name="Fill 15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6" name="Fill 16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7" name="Text 17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PROSPETTIVE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17/17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2218</Words>
  <Application>Microsoft Macintosh PowerPoint</Application>
  <PresentationFormat>On-screen Show (16:9)</PresentationFormat>
  <Paragraphs>261</Paragraphs>
  <Slides>17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cp:lastModifiedBy>Antonino Fulci</cp:lastModifiedBy>
  <cp:revision>1</cp:revision>
  <dcterms:created xsi:type="dcterms:W3CDTF">2026-10-06T14:56:31Z</dcterms:created>
  <dcterms:modified xsi:type="dcterms:W3CDTF">2026-10-06T15:09:10Z</dcterms:modified>
</cp:coreProperties>
</file>