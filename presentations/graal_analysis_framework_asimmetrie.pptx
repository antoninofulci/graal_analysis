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Default Extension="png" ContentType="image/png"/>
  <Default Extension="jpg" ContentType="image/jpe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2_graal_detector_source.jp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8_score_uv.png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0_roc_uv.png"/><Relationship Id="rId3" Type="http://schemas.openxmlformats.org/officeDocument/2006/relationships/image" Target="../media/graal_slide10_roc_vis.png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3_sigma_uv.png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ajaka_uv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sigma_vis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6_polarization.png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50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50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 dirty="0">
                <a:solidFill>
                  <a:srgbClr val="112642"/>
                </a:solidFill>
                <a:latin typeface="Aptos"/>
              </a:rPr>
              <a:t>A Grenoble, il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backscattering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Compton del laser sugli elettroni dell'anello produce fotoni polarizzati.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LAGRANγE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970782" cy="6217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Framework che porta i dati GRAAL dalla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pre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-selezione all'estrazione delle asimmetrie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Testato su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γp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→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pη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π⁰, confrontando i risultati con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Ajaka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et al. (2008).</a:t>
            </a:r>
          </a:p>
        </p:txBody>
      </p:sp>
      <p:pic>
        <p:nvPicPr>
          <p:cNvPr id="9" name="graal_detector_source.jpg" descr="graal_detector_source.jpg"/>
          <p:cNvPicPr>
            <a:picLocks noGrp="1" noChangeAspect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101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101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02/18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flusso completo dell'analisi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wiki/workflow.md; wiki/data-and-artifacts.md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1207008"/>
            <a:ext cx="694944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DATI</a:t>
            </a:r>
          </a:p>
        </p:txBody>
      </p:sp>
      <p:sp>
        <p:nvSpPr>
          <p:cNvPr id="5" name="Fill 5"/>
          <p:cNvSpPr/>
          <p:nvPr/>
        </p:nvSpPr>
        <p:spPr>
          <a:xfrm>
            <a:off x="1325880" y="1033272"/>
            <a:ext cx="120700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1399032" y="1069848"/>
            <a:ext cx="106070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ROOT h70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grezzi</a:t>
            </a:r>
          </a:p>
        </p:txBody>
      </p:sp>
      <p:sp>
        <p:nvSpPr>
          <p:cNvPr id="7" name="Fill 7"/>
          <p:cNvSpPr/>
          <p:nvPr/>
        </p:nvSpPr>
        <p:spPr>
          <a:xfrm>
            <a:off x="2752344" y="1033272"/>
            <a:ext cx="126187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2825496" y="1069848"/>
            <a:ext cx="111556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Pre-analisi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h80</a:t>
            </a:r>
          </a:p>
        </p:txBody>
      </p:sp>
      <p:sp>
        <p:nvSpPr>
          <p:cNvPr id="9" name="Fill 9"/>
          <p:cNvSpPr/>
          <p:nvPr/>
        </p:nvSpPr>
        <p:spPr>
          <a:xfrm>
            <a:off x="4242816" y="1033272"/>
            <a:ext cx="1234440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315968" y="1069848"/>
            <a:ext cx="108813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Selezione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h85</a:t>
            </a:r>
          </a:p>
        </p:txBody>
      </p:sp>
      <p:sp>
        <p:nvSpPr>
          <p:cNvPr id="11" name="Fill 11"/>
          <p:cNvSpPr/>
          <p:nvPr/>
        </p:nvSpPr>
        <p:spPr>
          <a:xfrm>
            <a:off x="5705856" y="1033272"/>
            <a:ext cx="130759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779008" y="1069848"/>
            <a:ext cx="116128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Ricostruzione</a:t>
            </a:r>
          </a:p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pηπ⁰</a:t>
            </a:r>
          </a:p>
        </p:txBody>
      </p:sp>
      <p:sp>
        <p:nvSpPr>
          <p:cNvPr id="13" name="Fill 13"/>
          <p:cNvSpPr/>
          <p:nvPr/>
        </p:nvSpPr>
        <p:spPr>
          <a:xfrm>
            <a:off x="7260336" y="1033272"/>
            <a:ext cx="125272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7333488" y="1069848"/>
            <a:ext cx="110642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Σ e figure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523744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01421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47725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13448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335024" y="1673352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percorso principale trasforma i dati del rivelatore in eventi ricostruiti e osservabili.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12648" y="2340864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MC / BDT</a:t>
            </a:r>
          </a:p>
        </p:txBody>
      </p:sp>
      <p:sp>
        <p:nvSpPr>
          <p:cNvPr id="21" name="Fill 21"/>
          <p:cNvSpPr/>
          <p:nvPr/>
        </p:nvSpPr>
        <p:spPr>
          <a:xfrm>
            <a:off x="1325880" y="2157984"/>
            <a:ext cx="1581912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1399032" y="2194560"/>
            <a:ext cx="143560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9 canali MC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spettro h85</a:t>
            </a:r>
          </a:p>
        </p:txBody>
      </p:sp>
      <p:sp>
        <p:nvSpPr>
          <p:cNvPr id="23" name="Fill 23"/>
          <p:cNvSpPr/>
          <p:nvPr/>
        </p:nvSpPr>
        <p:spPr>
          <a:xfrm>
            <a:off x="3236976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3310128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26 variabili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per evento</a:t>
            </a:r>
          </a:p>
        </p:txBody>
      </p:sp>
      <p:sp>
        <p:nvSpPr>
          <p:cNvPr id="25" name="Fill 25"/>
          <p:cNvSpPr/>
          <p:nvPr/>
        </p:nvSpPr>
        <p:spPr>
          <a:xfrm>
            <a:off x="5120640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5193792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Training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UV e VIS</a:t>
            </a:r>
          </a:p>
        </p:txBody>
      </p:sp>
      <p:sp>
        <p:nvSpPr>
          <p:cNvPr id="27" name="Fill 27"/>
          <p:cNvSpPr/>
          <p:nvPr/>
        </p:nvSpPr>
        <p:spPr>
          <a:xfrm>
            <a:off x="7004304" y="2157984"/>
            <a:ext cx="150876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7077456" y="2194560"/>
            <a:ext cx="136245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Gate BDT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sui dati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2916936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4800600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684264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1335024" y="2798064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classificatore apprende dal MC e dallo spettro misurato; il gate precede la ricostruzione.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2648" y="3465576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FLUSSI</a:t>
            </a:r>
          </a:p>
        </p:txBody>
      </p:sp>
      <p:sp>
        <p:nvSpPr>
          <p:cNvPr id="34" name="Fill 34"/>
          <p:cNvSpPr/>
          <p:nvPr/>
        </p:nvSpPr>
        <p:spPr>
          <a:xfrm>
            <a:off x="1325880" y="3282696"/>
            <a:ext cx="1901952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5" name="Text 35"/>
          <p:cNvSpPr txBox="1"/>
          <p:nvPr/>
        </p:nvSpPr>
        <p:spPr>
          <a:xfrm>
            <a:off x="1399032" y="3319272"/>
            <a:ext cx="175564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h80, manifest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flussi esterni</a:t>
            </a:r>
          </a:p>
        </p:txBody>
      </p:sp>
      <p:sp>
        <p:nvSpPr>
          <p:cNvPr id="36" name="Fill 36"/>
          <p:cNvSpPr/>
          <p:nvPr/>
        </p:nvSpPr>
        <p:spPr>
          <a:xfrm>
            <a:off x="3602736" y="3282696"/>
            <a:ext cx="201168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7" name="Text 37"/>
          <p:cNvSpPr txBox="1"/>
          <p:nvPr/>
        </p:nvSpPr>
        <p:spPr>
          <a:xfrm>
            <a:off x="3675888" y="3319272"/>
            <a:ext cx="18653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Energia per strip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polarizzazione</a:t>
            </a:r>
          </a:p>
        </p:txBody>
      </p:sp>
      <p:sp>
        <p:nvSpPr>
          <p:cNvPr id="38" name="Fill 38"/>
          <p:cNvSpPr/>
          <p:nvPr/>
        </p:nvSpPr>
        <p:spPr>
          <a:xfrm>
            <a:off x="5998464" y="3282696"/>
            <a:ext cx="251460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6071616" y="3319272"/>
            <a:ext cx="236829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Flussi calibrati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POL1 / POL2 / BREM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3255264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650992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67512" y="4123944"/>
            <a:ext cx="7891272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112642"/>
                </a:solidFill>
                <a:latin typeface="Aptos"/>
              </a:rPr>
              <a:t>Gli estimatori di Σ combinano eventi ricostruiti, esposizione calibrata e polarizzazione per run.</a:t>
            </a:r>
          </a:p>
        </p:txBody>
      </p:sp>
      <p:sp>
        <p:nvSpPr>
          <p:cNvPr id="43" name="Fill 4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4" name="Fill 44"/>
          <p:cNvSpPr/>
          <p:nvPr/>
        </p:nvSpPr>
        <p:spPr>
          <a:xfrm>
            <a:off x="0" y="0"/>
            <a:ext cx="152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46" name="Fill 4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7" name="Fill 47"/>
          <p:cNvSpPr/>
          <p:nvPr/>
        </p:nvSpPr>
        <p:spPr>
          <a:xfrm>
            <a:off x="0" y="4882896"/>
            <a:ext cx="152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8" name="Text 4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Dai dati Fortran alla preselezione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 dirty="0">
                <a:solidFill>
                  <a:srgbClr val="52657B"/>
                </a:solidFill>
                <a:latin typeface="Aptos"/>
              </a:rPr>
              <a:t>Fonte: codice semplificato da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PreAnalysis.C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> e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select_events.py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987552"/>
            <a:ext cx="7845552" cy="5669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 dirty="0">
                <a:solidFill>
                  <a:srgbClr val="112642"/>
                </a:solidFill>
                <a:latin typeface="Aptos"/>
              </a:rPr>
              <a:t>Le routine Fortran hanno prodotto i dati storici. </a:t>
            </a:r>
            <a:r>
              <a:rPr lang="it-IT" sz="1419" b="0" i="1" dirty="0">
                <a:solidFill>
                  <a:srgbClr val="112642"/>
                </a:solidFill>
                <a:latin typeface="Aptos"/>
              </a:rPr>
              <a:t>Antonio Riggio </a:t>
            </a:r>
            <a:r>
              <a:rPr lang="it-IT" sz="1419" b="0" i="0" dirty="0">
                <a:solidFill>
                  <a:srgbClr val="112642"/>
                </a:solidFill>
                <a:latin typeface="Aptos"/>
              </a:rPr>
              <a:t>li ha convertiti in ROOT h70 e ha preparato i tagli PID; il codice della repo parte dai file h70 già convertiti.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618488"/>
            <a:ext cx="7845552" cy="4572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1" i="0" dirty="0">
                <a:solidFill>
                  <a:srgbClr val="0B5FA5"/>
                </a:solidFill>
                <a:latin typeface="Aptos"/>
              </a:rPr>
              <a:t>Con C++/ROOT produciamo h80; Python/</a:t>
            </a:r>
            <a:r>
              <a:rPr lang="it-IT" sz="1376" b="1" i="0" dirty="0" err="1">
                <a:solidFill>
                  <a:srgbClr val="0B5FA5"/>
                </a:solidFill>
                <a:latin typeface="Aptos"/>
              </a:rPr>
              <a:t>PyROOT</a:t>
            </a:r>
            <a:r>
              <a:rPr lang="it-IT" sz="1376" b="1" i="0" dirty="0">
                <a:solidFill>
                  <a:srgbClr val="0B5FA5"/>
                </a:solidFill>
                <a:latin typeface="Aptos"/>
              </a:rPr>
              <a:t> filtra gli eventi in h85.</a:t>
            </a:r>
          </a:p>
        </p:txBody>
      </p:sp>
      <p:sp>
        <p:nvSpPr>
          <p:cNvPr id="6" name="Fill 6"/>
          <p:cNvSpPr/>
          <p:nvPr/>
        </p:nvSpPr>
        <p:spPr>
          <a:xfrm>
            <a:off x="667512" y="2258568"/>
            <a:ext cx="3374136" cy="80467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832104" y="2350008"/>
            <a:ext cx="3054096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auto* cut = RequireCut("Proton","Cnt",Idrun);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cut-&gt;IsInside(Eclusc_track[i],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              Dedx_track[i]);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123944" y="2368296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9" name="Fill 9"/>
          <p:cNvSpPr/>
          <p:nvPr/>
        </p:nvSpPr>
        <p:spPr>
          <a:xfrm>
            <a:off x="4608576" y="2258568"/>
            <a:ext cx="3877056" cy="8046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754880" y="2331720"/>
            <a:ext cx="3602736" cy="64008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500" b="0" i="0">
                <a:solidFill>
                  <a:srgbClr val="112642"/>
                </a:solidFill>
                <a:latin typeface="Aptos"/>
              </a:rPr>
              <a:t>I poligoni PID del run classificano le tracce centrali. PreAnalysis.C scrive h80 con particelle e metadati.</a:t>
            </a:r>
          </a:p>
        </p:txBody>
      </p:sp>
      <p:sp>
        <p:nvSpPr>
          <p:cNvPr id="11" name="Fill 11"/>
          <p:cNvSpPr/>
          <p:nvPr/>
        </p:nvSpPr>
        <p:spPr>
          <a:xfrm>
            <a:off x="667512" y="3255264"/>
            <a:ext cx="3374136" cy="950976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310128"/>
            <a:ext cx="3054096" cy="85953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 = frame.Filter(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"gammas.size() &gt; 1 &amp;&amp;"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 fcharged_theta.size() == 1")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selected.Snapshot("h85", ...)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123944" y="3438144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4" name="Fill 14"/>
          <p:cNvSpPr/>
          <p:nvPr/>
        </p:nvSpPr>
        <p:spPr>
          <a:xfrm>
            <a:off x="4608576" y="3255264"/>
            <a:ext cx="3877056" cy="95097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4754880" y="3337560"/>
            <a:ext cx="3602736" cy="77724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50" b="0" i="0">
                <a:solidFill>
                  <a:srgbClr val="112642"/>
                </a:solidFill>
                <a:latin typeface="Aptos"/>
              </a:rPr>
              <a:t>La preselezione richiede almeno 2 fotoni e una traccia carica in avanti. h85 conserva tutti i rami; i 4 fotoni si richiedono più avanti.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85800" y="4315968"/>
            <a:ext cx="781812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>
                <a:solidFill>
                  <a:srgbClr val="52657B"/>
                </a:solidFill>
                <a:latin typeface="Aptos"/>
              </a:rPr>
              <a:t>RunNumber, Polarization e Xstrip restano disponibili per ricostruzione e calibrazione.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0"/>
            <a:ext cx="203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203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04/18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dei candidati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05_reconstruction/runtime/reco_core.py; core/event_logic.py; 00_common/physics/pairing.py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50976"/>
            <a:ext cx="7827264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Dagli eventi h85 ricostruiamo η → γγ e π⁰ → γγ. I percorsi standard e BDT usano lo stesso algoritmo: nel secondo, il classificatore seleziona gli eventi prima del pairing.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618488"/>
            <a:ext cx="3657600" cy="70408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46504"/>
            <a:ext cx="3337560" cy="48463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chain.gammas.size() &lt; 4: continue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chain.protons.size() != 1: continue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682496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618488"/>
            <a:ext cx="3694176" cy="70408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682496"/>
            <a:ext cx="3401568" cy="55778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40" b="0" i="0">
                <a:solidFill>
                  <a:srgbClr val="112642"/>
                </a:solidFill>
                <a:latin typeface="Aptos"/>
              </a:rPr>
              <a:t>Servono almeno quattro fotoni e un solo protone. Usiamo i primi quattro fotoni e conserviamo la molteplicità originale.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459736"/>
            <a:ext cx="3657600" cy="914400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551176"/>
            <a:ext cx="3337560" cy="7315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pairing, chi2_value = pairing_fn(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event.photons, channel.hypothesis)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if chi2_value &gt;= config.chi2_cut: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return RejectionReason.CHI_SQUARE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62432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459736"/>
            <a:ext cx="3694176" cy="91440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532888"/>
            <a:ext cx="3401568" cy="76809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Tre partizioni dei fotoni, con due assegnazioni ciascuna, danno sei ipotesi ηπ⁰. Scegliamo quella più vicina alle masse nominali: χ² &lt; 10.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511296"/>
            <a:ext cx="3657600" cy="832104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648456"/>
            <a:ext cx="3337560" cy="54864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heavy = photons[0] + photons[1]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light = photons[2] + photons[3]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63016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511296"/>
            <a:ext cx="3694176" cy="83210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584448"/>
            <a:ext cx="3401568" cy="68580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Sommiamo i quadrivettori per ottenere η e π⁰. Scartiamo energie incompatibili con il fascio; salviamo masse, χ² e dati del run.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0"/>
            <a:ext cx="254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3" name="Fill 2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4" name="Fill 24"/>
          <p:cNvSpPr/>
          <p:nvPr/>
        </p:nvSpPr>
        <p:spPr>
          <a:xfrm>
            <a:off x="0" y="4882896"/>
            <a:ext cx="254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5" name="Text 2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05/18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03_mc_simulation/generators/generate_eta_pi0_dataset.C e smearing.h; 04_bdt_training/dataset/mc_samples.py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32688"/>
            <a:ext cx="781812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50" b="0" i="0">
                <a:solidFill>
                  <a:srgbClr val="112642"/>
                </a:solidFill>
                <a:latin typeface="Aptos"/>
              </a:rPr>
              <a:t>I generatori descrivono produzione e decadimenti. Prima del training, applichiamo una risposta strumentale semplificata e selezioniamo gli eventi con quattro fotoni osservabili.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444752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490472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 BeamWindow beam_window =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ResolveBeamWindow(threshold,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requested_min_gev, requested_max_gev);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499616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444752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490472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L'energia parte dalla soglia calcolata con le masse finali. Il limite predefinito è 1,75 GeV; la finestra VIS si ferma a 1,10 GeV.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194560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240280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if (!event.SetDecay(W, 3, masses))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continue;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GenerateUnweighted(event, rng);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249424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194560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240280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60" b="0" i="0">
                <a:solidFill>
                  <a:srgbClr val="112642"/>
                </a:solidFill>
                <a:latin typeface="Aptos"/>
              </a:rPr>
              <a:t>TGenPhaseSpace genera pηπ⁰ senza pesi finali; η e π⁰ decadono poi in due fotoni ciascuno.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2944368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2990088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constexpr double kTaggerFwhmGeV = 0.016;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beam = SmearTaggedPhoton(Ebeam, rng);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2999232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2944368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2990088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60" b="0" i="0">
                <a:solidFill>
                  <a:srgbClr val="112642"/>
                </a:solidFill>
                <a:latin typeface="Aptos"/>
              </a:rPr>
              <a:t>Smearing gaussiano per fotoni e protone; il tagger usa una risoluzione FWHM di 16 MeV.</a:t>
            </a:r>
          </a:p>
        </p:txBody>
      </p:sp>
      <p:sp>
        <p:nvSpPr>
          <p:cNvPr id="20" name="Fill 20"/>
          <p:cNvSpPr/>
          <p:nvPr/>
        </p:nvSpPr>
        <p:spPr>
          <a:xfrm>
            <a:off x="667512" y="3694176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32104" y="3730752"/>
            <a:ext cx="3337560" cy="59436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photons_4, event_mask = sample_surviving_photons(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    photons_all, ph_E, ph_theta, rng, params, n_keep=4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89120" y="3749040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23" name="Fill 23"/>
          <p:cNvSpPr/>
          <p:nvPr/>
        </p:nvSpPr>
        <p:spPr>
          <a:xfrm>
            <a:off x="4773168" y="3694176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4919472" y="3739896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La perdita di fotoni dipende da energia e angolo. Teniamo quattro fotoni osservati, con la stessa procedura per segnale e fondi.</a:t>
            </a:r>
          </a:p>
        </p:txBody>
      </p:sp>
      <p:sp>
        <p:nvSpPr>
          <p:cNvPr id="25" name="Fill 2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6" name="Fill 26"/>
          <p:cNvSpPr/>
          <p:nvPr/>
        </p:nvSpPr>
        <p:spPr>
          <a:xfrm>
            <a:off x="0" y="0"/>
            <a:ext cx="304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8" name="Fill 2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9" name="Fill 29"/>
          <p:cNvSpPr/>
          <p:nvPr/>
        </p:nvSpPr>
        <p:spPr>
          <a:xfrm>
            <a:off x="0" y="4882896"/>
            <a:ext cx="304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30" name="Text 3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06/18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questi nove canali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00_common/physics/channels.py; generatori MC; 04_bdt_training/photon_loss.py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950976"/>
            <a:ext cx="7772400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Segnale: pηπ⁰ con η → γγ e π⁰ → γγ. Gli altri canali coprono le reazioni che possono produrre quattro fotoni osservati o imitare le masse cercate.</a:t>
            </a:r>
          </a:p>
        </p:txBody>
      </p:sp>
      <p:sp>
        <p:nvSpPr>
          <p:cNvPr id="5" name="Fill 5"/>
          <p:cNvSpPr/>
          <p:nvPr/>
        </p:nvSpPr>
        <p:spPr>
          <a:xfrm>
            <a:off x="676656" y="1618488"/>
            <a:ext cx="7790688" cy="69494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00784"/>
            <a:ext cx="2798064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π⁰π⁰ · 3π⁰ · 4π⁰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675888" y="1673352"/>
            <a:ext cx="4626864" cy="58521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90" b="0" i="0">
                <a:solidFill>
                  <a:srgbClr val="112642"/>
                </a:solidFill>
                <a:latin typeface="Aptos"/>
              </a:rPr>
              <a:t>Il primo produce già quattro fotoni; gli altri ne producono sei o otto e possono apparire come eventi a quattro fotoni quando alcuni sfuggono al rivelatore.</a:t>
            </a:r>
          </a:p>
        </p:txBody>
      </p:sp>
      <p:sp>
        <p:nvSpPr>
          <p:cNvPr id="8" name="Fill 8"/>
          <p:cNvSpPr/>
          <p:nvPr/>
        </p:nvSpPr>
        <p:spPr>
          <a:xfrm>
            <a:off x="676656" y="2441448"/>
            <a:ext cx="7790688" cy="77724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832104" y="2523744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6" b="1" i="0">
                <a:solidFill>
                  <a:srgbClr val="0B5FA5"/>
                </a:solidFill>
                <a:latin typeface="Aptos"/>
              </a:rPr>
              <a:t>η → 3π⁰ · ηπ⁰ (η → 3π⁰)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675888" y="2496312"/>
            <a:ext cx="4626864" cy="66751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La prima contiene una η reale; la seconda è la reazione del segnale con un diverso decadimento della η. Perdendo fotoni, entrambe possono contaminare il campione.</a:t>
            </a:r>
          </a:p>
        </p:txBody>
      </p:sp>
      <p:sp>
        <p:nvSpPr>
          <p:cNvPr id="11" name="Fill 11"/>
          <p:cNvSpPr/>
          <p:nvPr/>
        </p:nvSpPr>
        <p:spPr>
          <a:xfrm>
            <a:off x="676656" y="3346704"/>
            <a:ext cx="7790688" cy="76809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429000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79" b="1" i="0">
                <a:solidFill>
                  <a:srgbClr val="0B5FA5"/>
                </a:solidFill>
                <a:latin typeface="Aptos"/>
              </a:rPr>
              <a:t>η2π⁰ · ωπ⁰ · η′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675888" y="3401568"/>
            <a:ext cx="4626864" cy="65836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Producono cinque o sei fotoni; η2π⁰ ed η′ contengono anche una η reale. Le loro soglie sono oltre 1,10 GeV: contribuiscono al catalogo UV, non al VIS.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51960"/>
            <a:ext cx="7781544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99" b="1" i="0">
                <a:solidFill>
                  <a:srgbClr val="0B5FA5"/>
                </a:solidFill>
                <a:latin typeface="Aptos"/>
              </a:rPr>
              <a:t>Nel VIS restano accessibili 6 dei 9 canali: il segnale e i cinque fondi dei primi due gruppi.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0"/>
            <a:ext cx="355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8" name="Fill 1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9" name="Fill 19"/>
          <p:cNvSpPr/>
          <p:nvPr/>
        </p:nvSpPr>
        <p:spPr>
          <a:xfrm>
            <a:off x="0" y="4882896"/>
            <a:ext cx="355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07/18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Come funziona il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artifacts/stage1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42416"/>
            <a:ext cx="2926080" cy="6675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214" b="1" i="0">
                <a:solidFill>
                  <a:srgbClr val="0B5FA5"/>
                </a:solidFill>
                <a:latin typeface="Aptos"/>
              </a:rPr>
              <a:t>BDT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85800" y="1819656"/>
            <a:ext cx="3685032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0" i="0">
                <a:solidFill>
                  <a:srgbClr val="112642"/>
                </a:solidFill>
                <a:latin typeface="Aptos"/>
              </a:rPr>
              <a:t>Alleniamo XGBoost sul MC per distinguere il segnale dai canali di fondo.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85800" y="2688336"/>
            <a:ext cx="3730752" cy="10332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Il modello usa 26 variabili, tra cui masse γγ, massa mancante, energia e angoli. Le calcoliamo allo stesso modo anche sui dati.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3767328"/>
            <a:ext cx="3703320" cy="7315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52657B"/>
                </a:solidFill>
                <a:latin typeface="Aptos"/>
              </a:rPr>
              <a:t>Nel training bilanciamo le classi e rimescoliamo l'ordine dei fotoni, così il modello non impara scorciatoie spurie.</a:t>
            </a:r>
          </a:p>
        </p:txBody>
      </p:sp>
      <p:pic>
        <p:nvPicPr>
          <p:cNvPr id="8" name="score_uv.png" descr="score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328166"/>
            <a:ext cx="3931920" cy="2948940"/>
          </a:xfrm>
          <a:prstGeom prst="rect">
            <a:avLst/>
          </a:prstGeom>
        </p:spPr>
      </p:pic>
      <p:sp>
        <p:nvSpPr>
          <p:cNvPr id="9" name="Fill 9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0"/>
            <a:ext cx="406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4882896"/>
            <a:ext cx="406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Dal MC ai dati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wiki/04-bdt-training.md; wiki/05-stage1-gate.md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78992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371600" y="1088136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Spettro misurato e pesi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371600" y="1453896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Pesiamo il MC con il flusso del tagger, la sezione d'urto e l'accettanza.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1956816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371600" y="1965960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Quattro fotoni osservati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371600" y="2331720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Applichiamo a segnale e fondi la perdita di fotoni e il loro rimescolamento.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2834640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371600" y="2843784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Due modelli per UV e VIS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371600" y="3209544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Per ogni regione salviamo insieme il modello, la soglia e la provenienza.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13232" y="3712464"/>
            <a:ext cx="502920" cy="5394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3354" b="1" i="0">
                <a:solidFill>
                  <a:srgbClr val="0B5FA5"/>
                </a:solidFill>
                <a:latin typeface="Aptos"/>
              </a:rPr>
              <a:t>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371600" y="3721608"/>
            <a:ext cx="67665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1" i="0">
                <a:solidFill>
                  <a:srgbClr val="112642"/>
                </a:solidFill>
                <a:latin typeface="Aptos"/>
              </a:rPr>
              <a:t>Selezione dei dati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371600" y="4087368"/>
            <a:ext cx="6793992" cy="3383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Dopo il filtro BDT, ricostruiamo gli eventi con la stessa ipotesi e lo stesso pairing χ².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457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457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Risultati del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results/test_data/uv|vis/bdt/artifacts/stage1/stage1_metrics.txt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8096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UV  AUC 0,9975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690872" y="1033272"/>
            <a:ext cx="365760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VIS  AUC 0,9995</a:t>
            </a:r>
          </a:p>
        </p:txBody>
      </p:sp>
      <p:pic>
        <p:nvPicPr>
          <p:cNvPr id="6" name="roc_uv.png" descr="roc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1435608"/>
            <a:ext cx="3316224" cy="2487168"/>
          </a:xfrm>
          <a:prstGeom prst="rect">
            <a:avLst/>
          </a:prstGeom>
        </p:spPr>
      </p:pic>
      <p:pic>
        <p:nvPicPr>
          <p:cNvPr id="7" name="roc_vis.png" descr="roc_vis.png"/>
          <p:cNvPicPr>
            <a:picLocks noChangeAspect="1" noGr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424" y="1435608"/>
            <a:ext cx="3316224" cy="24871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740664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0,9842 · soglia 0,1233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663440" y="3931920"/>
            <a:ext cx="3767328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F1 0,9956 · soglia 0,0740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4334256"/>
            <a:ext cx="7772400" cy="2286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Queste metriche vengono dal MC di prova: l'AUC non indica la purezza del campione reale.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08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08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wiki/06-calibration.md; config/run_manifest.csv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0704"/>
            <a:ext cx="32918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Run manifest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453896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Il manifest assegna a ogni run il target, la regione UV o VIS e lo stato di polarizzazione.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002536"/>
            <a:ext cx="384048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h80 + flux ROOT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2395728"/>
            <a:ext cx="75438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Calibriamo l'energia delle strip 1–128 con la mediana misurata per run e polarizzazione.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2971800"/>
            <a:ext cx="630936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POL1 · POL2 · BREM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94944" y="3364992"/>
            <a:ext cx="7543800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112642"/>
                </a:solidFill>
                <a:latin typeface="Aptos"/>
              </a:rPr>
              <a:t>Per usare un run servono tutti e tre i flussi. Se ne manca uno, escludiamo il run.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94944" y="3968496"/>
            <a:ext cx="548640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150" b="1" i="0">
                <a:solidFill>
                  <a:srgbClr val="0B5FA5"/>
                </a:solidFill>
                <a:latin typeface="Aptos"/>
              </a:rPr>
              <a:t>flux_calibrated.root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94944" y="4343400"/>
            <a:ext cx="7498080" cy="2468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52657B"/>
                </a:solidFill>
                <a:latin typeface="Aptos"/>
              </a:rPr>
              <a:t>Il file finale conserva gli assi energetici calibrati e viene scritto in modo atomico.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558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558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609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609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60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60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11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112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62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620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12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128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3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36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2026-10-06T14:03:56Z</dcterms:created>
  <dcterms:modified xsi:type="dcterms:W3CDTF">2026-10-06T14:03:56Z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