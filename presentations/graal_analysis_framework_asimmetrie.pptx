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8_xgboost_two_trees.png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_production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2_sigma_uv.png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3_ajaka_uv.png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vis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polarization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53788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53788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107576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107576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02/17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6136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6136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 dirty="0">
                <a:solidFill>
                  <a:srgbClr val="52657B"/>
                </a:solidFill>
                <a:latin typeface="Aptos"/>
              </a:rPr>
              <a:t>Fonte: codice semplificato da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PreAnalysis.C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select_events.py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 dirty="0">
                <a:solidFill>
                  <a:srgbClr val="112642"/>
                </a:solidFill>
                <a:latin typeface="Aptos"/>
              </a:rPr>
              <a:t>Le routine Fortran hanno prodotto i dati storici. </a:t>
            </a:r>
            <a:r>
              <a:rPr lang="it-IT" sz="1419" b="0" i="1" dirty="0">
                <a:solidFill>
                  <a:srgbClr val="112642"/>
                </a:solidFill>
                <a:latin typeface="Aptos"/>
              </a:rPr>
              <a:t>Antonio Riggio </a:t>
            </a:r>
            <a:r>
              <a:rPr lang="it-IT" sz="1419" b="0" i="0" dirty="0">
                <a:solidFill>
                  <a:srgbClr val="112642"/>
                </a:solidFill>
                <a:latin typeface="Aptos"/>
              </a:rPr>
              <a:t>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1" i="0" dirty="0">
                <a:solidFill>
                  <a:srgbClr val="0B5FA5"/>
                </a:solidFill>
                <a:latin typeface="Aptos"/>
              </a:rPr>
              <a:t>Con C++/ROOT produciamo h80; Python/</a:t>
            </a:r>
            <a:r>
              <a:rPr lang="it-IT" sz="1376" b="1" i="0" dirty="0" err="1">
                <a:solidFill>
                  <a:srgbClr val="0B5FA5"/>
                </a:solidFill>
                <a:latin typeface="Aptos"/>
              </a:rPr>
              <a:t>PyROOT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 filtra gli eventi in h85.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00" b="0" i="0">
                <a:solidFill>
                  <a:srgbClr val="112642"/>
                </a:solidFill>
                <a:latin typeface="Aptos"/>
              </a:rPr>
              <a:t>I poligoni PID del run classificano le tracce centrali. PreAnalysis.C scrive h80 con particelle e metadati.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50" b="0" i="0">
                <a:solidFill>
                  <a:srgbClr val="112642"/>
                </a:solidFill>
                <a:latin typeface="Aptos"/>
              </a:rPr>
              <a:t>La preselezione richiede almeno 2 fotoni e una traccia carica in avanti. h85 conserva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52657B"/>
                </a:solidFill>
                <a:latin typeface="Aptos"/>
              </a:rPr>
              <a:t>RunNumber, Polarization e Xstrip restano disponibili per ricostruzione e calibrazione.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215152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215152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04/17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dei candidati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05_reconstruction/runtime/reco_core.py; core/event_logic.py; 00_common/physics/pairing.py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827264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Dagli eventi h85 ricostruiamo η → γγ e π⁰ → γγ. I percorsi standard e BDT usano lo stesso algoritmo: nel secondo, il classificatore seleziona gli eventi prima del pairing.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618488"/>
            <a:ext cx="3657600" cy="70408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46504"/>
            <a:ext cx="3337560" cy="48463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chain.gammas.size() &lt; 4: continue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chain.protons.size() != 1: continue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682496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618488"/>
            <a:ext cx="3694176" cy="70408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682496"/>
            <a:ext cx="3401568" cy="55778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40" b="0" i="0">
                <a:solidFill>
                  <a:srgbClr val="112642"/>
                </a:solidFill>
                <a:latin typeface="Aptos"/>
              </a:rPr>
              <a:t>Servono almeno quattro fotoni e un solo protone. Usiamo i primi quattro fotoni e conserviamo la molteplicità originale.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459736"/>
            <a:ext cx="3657600" cy="914400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551176"/>
            <a:ext cx="3337560" cy="7315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pairing, chi2_value = pairing_fn(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event.photons, channel.hypothesis)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if chi2_value &gt;= config.chi2_cut: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return RejectionReason.CHI_SQUARE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62432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459736"/>
            <a:ext cx="3694176" cy="91440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532888"/>
            <a:ext cx="3401568" cy="76809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Tre partizioni dei fotoni, con due assegnazioni ciascuna, danno sei ipotesi ηπ⁰. Scegliamo quella più vicina alle masse nominali: χ² &lt; 10.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511296"/>
            <a:ext cx="3657600" cy="832104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648456"/>
            <a:ext cx="3337560" cy="54864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heavy = photons[0] + photons[1]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light = photons[2] + photons[3]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63016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511296"/>
            <a:ext cx="3694176" cy="83210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584448"/>
            <a:ext cx="3401568" cy="68580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Sommiamo i quadrivettori per ottenere η e π⁰. Scartiamo energie incompatibili con il fascio; salviamo masse, χ² e dati del run.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0"/>
            <a:ext cx="268941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3" name="Fill 2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4" name="Fill 24"/>
          <p:cNvSpPr/>
          <p:nvPr/>
        </p:nvSpPr>
        <p:spPr>
          <a:xfrm>
            <a:off x="0" y="4882896"/>
            <a:ext cx="268941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5" name="Text 2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05/17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03_mc_simulation/generators/generate_eta_pi0_dataset.C e smearing.h; 04_bdt_training/dataset/mc_samples.py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32688"/>
            <a:ext cx="781812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50" b="0" i="0">
                <a:solidFill>
                  <a:srgbClr val="112642"/>
                </a:solidFill>
                <a:latin typeface="Aptos"/>
              </a:rPr>
              <a:t>I generatori descrivono produzione e decadimenti. Prima del training, applichiamo una risposta strumentale semplificata e selezioniamo gli eventi con quattro fotoni osservabili.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44752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490472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 BeamWindow beam_window =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ResolveBeamWindow(threshold,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requested_min_gev, requested_max_gev);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499616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44752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490472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Estraiamo l'energia uniformemente dalla soglia fisica a 1,75 GeV (limite predefinito); la finestra VIS si ferma a 1,10 GeV.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194560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240280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if (!event.SetDecay(W, 3, masses))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continue;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GenerateUnweighted(event, rng);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249424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194560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40280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60" b="0" i="0">
                <a:solidFill>
                  <a:srgbClr val="112642"/>
                </a:solidFill>
                <a:latin typeface="Aptos"/>
              </a:rPr>
              <a:t>TGenPhaseSpace genera pηπ⁰ senza pesi finali; η e π⁰ decadono poi in due fotoni ciascuno.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2944368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2990088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constexpr double kTaggerFwhmGeV = 0.016;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beam = SmearTaggedPhoton(Ebeam, rng);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2999232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2944368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2990088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80" b="0" i="0">
                <a:solidFill>
                  <a:srgbClr val="112642"/>
                </a:solidFill>
                <a:latin typeface="Aptos"/>
              </a:rPr>
              <a:t>Per i fotoni assumiamo 10% in energia e 5°/3° negli angoli; per il protone 4% nell'impulso e 3°/2°. Il tagger ha FWHM 16 MeV.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694176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730752"/>
            <a:ext cx="3337560" cy="59436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photons_4, event_mask = sample_surviving_photons(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    photons_all, ph_E, ph_theta, rng, params, n_keep=4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749040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694176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739896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La perdita di fotoni dipende da energia e angolo. Teniamo quattro fotoni osservati, con la stessa procedura per segnale e fondi.</a:t>
            </a: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322729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322729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06/17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questi nove canali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00_common/physics/channels.py; generatori MC; 04_bdt_training/photon_loss.py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950976"/>
            <a:ext cx="7772400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Segnale: pηπ⁰ con η → γγ e π⁰ → γγ. Gli altri canali coprono le reazioni che possono produrre quattro fotoni osservati o imitare le masse cercate.</a:t>
            </a:r>
          </a:p>
        </p:txBody>
      </p:sp>
      <p:sp>
        <p:nvSpPr>
          <p:cNvPr id="5" name="Fill 5"/>
          <p:cNvSpPr/>
          <p:nvPr/>
        </p:nvSpPr>
        <p:spPr>
          <a:xfrm>
            <a:off x="676656" y="1618488"/>
            <a:ext cx="7790688" cy="69494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00784"/>
            <a:ext cx="2798064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π⁰π⁰ · 3π⁰ · 4π⁰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675888" y="1673352"/>
            <a:ext cx="4626864" cy="58521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90" b="0" i="0">
                <a:solidFill>
                  <a:srgbClr val="112642"/>
                </a:solidFill>
                <a:latin typeface="Aptos"/>
              </a:rPr>
              <a:t>Il primo produce già quattro fotoni; gli altri ne producono sei o otto e possono apparire come eventi a quattro fotoni quando alcuni sfuggono al rivelatore.</a:t>
            </a:r>
          </a:p>
        </p:txBody>
      </p:sp>
      <p:sp>
        <p:nvSpPr>
          <p:cNvPr id="8" name="Fill 8"/>
          <p:cNvSpPr/>
          <p:nvPr/>
        </p:nvSpPr>
        <p:spPr>
          <a:xfrm>
            <a:off x="676656" y="2441448"/>
            <a:ext cx="7790688" cy="77724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832104" y="2523744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6" b="1" i="0">
                <a:solidFill>
                  <a:srgbClr val="0B5FA5"/>
                </a:solidFill>
                <a:latin typeface="Aptos"/>
              </a:rPr>
              <a:t>η → 3π⁰ · ηπ⁰ (η → 3π⁰)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675888" y="2496312"/>
            <a:ext cx="4626864" cy="66751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La prima contiene una η reale; la seconda è la reazione del segnale con un diverso decadimento della η. Perdendo fotoni, entrambe possono contaminare il campione.</a:t>
            </a:r>
          </a:p>
        </p:txBody>
      </p:sp>
      <p:sp>
        <p:nvSpPr>
          <p:cNvPr id="11" name="Fill 11"/>
          <p:cNvSpPr/>
          <p:nvPr/>
        </p:nvSpPr>
        <p:spPr>
          <a:xfrm>
            <a:off x="676656" y="3346704"/>
            <a:ext cx="7790688" cy="76809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429000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79" b="1" i="0">
                <a:solidFill>
                  <a:srgbClr val="0B5FA5"/>
                </a:solidFill>
                <a:latin typeface="Aptos"/>
              </a:rPr>
              <a:t>η2π⁰ · ωπ⁰ · η′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675888" y="3401568"/>
            <a:ext cx="4626864" cy="65836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Producono cinque o sei fotoni; η2π⁰ ed η′ contengono anche una η reale. Le loro soglie sono oltre 1,10 GeV: contribuiscono al catalogo UV, non al VIS.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51960"/>
            <a:ext cx="7781544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99" b="1" i="0">
                <a:solidFill>
                  <a:srgbClr val="0B5FA5"/>
                </a:solidFill>
                <a:latin typeface="Aptos"/>
              </a:rPr>
              <a:t>Nel VIS restano accessibili 6 dei 9 canali: il segnale e i cinque fondi dei primi due gruppi.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0"/>
            <a:ext cx="376517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8" name="Fill 1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9" name="Fill 19"/>
          <p:cNvSpPr/>
          <p:nvPr/>
        </p:nvSpPr>
        <p:spPr>
          <a:xfrm>
            <a:off x="0" y="4882896"/>
            <a:ext cx="376517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Che cos'è un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XGBoost, Introduction to Boosted Trees; ROOT/TMVA Users Guide §8.13; schema DMLC, Apache 2.0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790688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Un Boosted Decision Tree (BDT) combina alberi: ognuno pone domande sulle variabili e assegna un punteggio alle foglie.</a:t>
            </a:r>
          </a:p>
        </p:txBody>
      </p:sp>
      <p:pic>
        <p:nvPicPr>
          <p:cNvPr id="5" name="xgboost_two_trees.png" descr="xgboost_two_tree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87" y="1563624"/>
            <a:ext cx="4793643" cy="2423160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5715000" y="1572768"/>
            <a:ext cx="27432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93" b="1" i="0">
                <a:solidFill>
                  <a:srgbClr val="0B5FA5"/>
                </a:solidFill>
                <a:latin typeface="Aptos"/>
              </a:rPr>
              <a:t>1  Alberi successivi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5715000" y="1892808"/>
            <a:ext cx="2743200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00" b="0" i="0">
                <a:solidFill>
                  <a:srgbClr val="112642"/>
                </a:solidFill>
                <a:latin typeface="Aptos"/>
              </a:rPr>
              <a:t>Nel boosting, ogni nuovo albero corregge gli errori accumulati.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715000" y="2642616"/>
            <a:ext cx="27432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93" b="1" i="0">
                <a:solidFill>
                  <a:srgbClr val="0B5FA5"/>
                </a:solidFill>
                <a:latin typeface="Aptos"/>
              </a:rPr>
              <a:t>2  Punteggi sommati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715000" y="2962656"/>
            <a:ext cx="2743200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00" b="0" i="0">
                <a:solidFill>
                  <a:srgbClr val="112642"/>
                </a:solidFill>
                <a:latin typeface="Aptos"/>
              </a:rPr>
              <a:t>Sommiamo i punteggi delle foglie attraversate per ottenere lo score.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096512"/>
            <a:ext cx="7772400" cy="4023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Variando la soglia sullo score scegliamo quanta parte del segnale conservare e quanto fondo accettare.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430305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430305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08/17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nostro BDT: metodo e risultati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00_common/stage1/features.py; wiki/04-bdt-training.md; results/production-20261006-113738</a:t>
            </a:r>
          </a:p>
        </p:txBody>
      </p:sp>
      <p:pic>
        <p:nvPicPr>
          <p:cNvPr id="4" name="score_uv_production.png" descr="score_uv_produc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152144"/>
            <a:ext cx="4206240" cy="315468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676656" y="4297680"/>
            <a:ext cx="43891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050" b="0" i="0">
                <a:solidFill>
                  <a:srgbClr val="52657B"/>
                </a:solidFill>
                <a:latin typeface="Aptos"/>
              </a:rPr>
              <a:t>Score UV: 0 ≈ fondo, 1 ≈ segnale; densità per classe.</a:t>
            </a:r>
          </a:p>
          <a:p>
            <a:pPr algn="l"/>
            <a:r>
              <a:rPr lang="it-IT" sz="1050" b="0" i="0">
                <a:solidFill>
                  <a:srgbClr val="52657B"/>
                </a:solidFill>
                <a:latin typeface="Aptos"/>
              </a:rPr>
              <a:t>Linea rossa: soglia 0,394.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093208" y="987552"/>
            <a:ext cx="3337560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Training e selezione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5093208" y="1316736"/>
            <a:ext cx="3355848" cy="8138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MC di nove canali: accettanza simulata, quattro fotoni osservati, pesi per fascio e canale. Dividiamo il campione 80/20; usiamo modelli UV/VIS e le stesse variabili sui dati.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093208" y="2203704"/>
            <a:ext cx="3337560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Le 26 variabili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093208" y="2532888"/>
            <a:ext cx="3355848" cy="5943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6 masse γγ; 2 conteggi vicino a η/π⁰ e χ² del pairing; 4 variabili mancanti; 9 misure di fotoni/fascio; 2 del protone; 2 dei mesoni.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093208" y="3200400"/>
            <a:ext cx="3355848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Risultati sul MC di validazione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093208" y="3529584"/>
            <a:ext cx="3355848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UV: AUC 0,9979; F1 0,9855; soglia 0,394.</a:t>
            </a:r>
          </a:p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VIS: AUC 0,9997; F1 0,9962; soglia 0,291.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93208" y="3995928"/>
            <a:ext cx="3355848" cy="5943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150" b="0" i="0">
                <a:solidFill>
                  <a:srgbClr val="52657B"/>
                </a:solidFill>
                <a:latin typeface="Aptos"/>
              </a:rPr>
              <a:t>AUC pesata misura la separazione a tutte le soglie (1 è ideale). F1 pesato combina precisione e richiamo; scegliamo la soglia massimizzandolo sulla stessa validazione MC. Non misura la purezza dei dati.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0"/>
            <a:ext cx="484094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484094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09/17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37882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37882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91670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91670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45458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45458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99247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99247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5303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5303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06823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06823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0611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0611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2026-10-06T14:21:52Z</dcterms:created>
  <dcterms:modified xsi:type="dcterms:W3CDTF">2026-10-06T14:21:52Z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